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Xin chào mọi người, hôm nay em sẽ trình bày về dự án FinAI.</a:t>
            </a:r>
          </a:p>
          <a:p/>
          <a:p>
            <a:r>
              <a:t>FinAI là một hệ thống triển khai mô hình AI tài chính FinGPT trên bộ xử lý NPU của Intel. Cụ thể, em sử dụng chip Intel Core Ultra 7 258V thế hệ Lunar Lake, có NPU đạt 47 TOPS.</a:t>
            </a:r>
          </a:p>
          <a:p/>
          <a:p>
            <a:r>
              <a:t>Mô hình được sử dụng là Llama 3.1 8B kết hợp với LoRA adapter của FinGPT, được lượng tử hóa xuống INT4 bằng OpenVINO để chạy hiệu quả trên NPU.</a:t>
            </a:r>
          </a:p>
          <a:p/>
          <a:p>
            <a:r>
              <a:t>Điểm đặc biệt là hệ thống cung cấp API tương thích với OpenAI, cho phép tích hợp dễ dàng với bất kỳ ứng dụng nào hỗ trợ OpenAI API.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Vậy tại sao em lại làm dự án này?</a:t>
            </a:r>
          </a:p>
          <a:p/>
          <a:p>
            <a:r>
              <a:t>Thứ nhất, các dịch vụ AI tài chính trên cloud có độ trễ cao và chi phí lớn. Mỗi lần gọi API tốn từ 1-6 cent, tích lũy lại rất đáng kể khi phân tích thị trường liên tục.</a:t>
            </a:r>
          </a:p>
          <a:p/>
          <a:p>
            <a:r>
              <a:t>Thứ hai, dữ liệu tài chính rất nhạy cảm. Khi gửi lên cloud, chúng ta mất quyền kiểm soát dữ liệu, gây ra rủi ro về bảo mật và tuân thủ pháp luật.</a:t>
            </a:r>
          </a:p>
          <a:p/>
          <a:p>
            <a:r>
              <a:t>Thứ ba, hầu hết các giải pháp chạy LLM trên thiết bị đều tập trung vào GPU rời, trong khi Intel NPU là bộ tăng tốc AI chuyên dụng nhưng ít được khai thác.</a:t>
            </a:r>
          </a:p>
          <a:p/>
          <a:p>
            <a:r>
              <a:t>Giải pháp của em là xây dựng một pipeline hoàn chỉnh từ đầu đến cuối: tải mô hình, gộp LoRA, lượng tử hóa INT4, và triển khai trên NPU với API server tương thích OpenAI. Hoàn toàn miễn phí, chạy offline, và bảo mật dữ liệu 100%.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phần cứng, em sử dụng laptop với chip Intel Core Ultra 7 258V, thuộc thế hệ Lunar Lake.</a:t>
            </a:r>
          </a:p>
          <a:p/>
          <a:p>
            <a:r>
              <a:t>Điểm nổi bật nhất là NPU - Neural Processing Unit - bộ xử lý AI chuyên dụng đạt 47 TOPS, tức 47 nghìn tỷ phép tính mỗi giây. NPU này hỗ trợ native INT4 và INT8, rất phù hợp cho mô hình đã lượng tử hóa.</a:t>
            </a:r>
          </a:p>
          <a:p/>
          <a:p>
            <a:r>
              <a:t>Máy có 32 GB RAM LPDDR5x, đủ để load mô hình 4.5 GB sau khi lượng tử hóa và vẫn còn dư cho hệ thống.</a:t>
            </a:r>
          </a:p>
          <a:p/>
          <a:p>
            <a:r>
              <a:t>GPU tích hợp là Intel Arc 140V với 16 GB bộ nhớ chia sẻ, có thể dùng làm fallback nếu NPU gặp vấn đề.</a:t>
            </a:r>
          </a:p>
          <a:p/>
          <a:p>
            <a:r>
              <a:t>So sánh với cloud: NPU mất khoảng 22 giây mỗi response nhưng chi phí bằng 0, hoàn toàn offline và bảo mật. Cloud nhanh hơn nhưng tốn tiền và phải gửi dữ liệu ra ngoài.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kiến trúc mô hình, em sử dụng 2 thành phần chính:</a:t>
            </a:r>
          </a:p>
          <a:p/>
          <a:p>
            <a:r>
              <a:t>Thứ nhất là mô hình cơ sở Meta Llama 3.1 8B Instruct - đây là mô hình ngôn ngữ lớn 8 tỷ tham số của Meta, đã được huấn luyện theo hướng dẫn. Ở dạng FP16 gốc, mô hình nặng khoảng 16 GB.</a:t>
            </a:r>
          </a:p>
          <a:p/>
          <a:p>
            <a:r>
              <a:t>Thứ hai là FinGPT LoRA adapter - đây là bộ trọng số tinh chỉnh cho lĩnh vực tài chính, được phát triển bởi AI4Finance Foundation. LoRA cho phép tinh chỉnh mô hình lớn mà chỉ cần huấn luyện một phần nhỏ tham số, rất hiệu quả.</a:t>
            </a:r>
          </a:p>
          <a:p/>
          <a:p>
            <a:r>
              <a:t>Pipeline triển khai gồm 4 bước tuần tự:</a:t>
            </a:r>
          </a:p>
          <a:p>
            <a:r>
              <a:t>- Bước 1: Tải mô hình cơ sở và LoRA adapter từ HuggingFace</a:t>
            </a:r>
          </a:p>
          <a:p>
            <a:r>
              <a:t>- Bước 2: Gộp trọng số LoRA vào mô hình cơ sở bằng thư viện PEFT</a:t>
            </a:r>
          </a:p>
          <a:p>
            <a:r>
              <a:t>- Bước 3: Chuyển đổi sang định dạng OpenVINO IR với lượng tử hóa INT4 đối xứng. Từ 16 GB giảm xuống còn 4.5 GB, tỷ lệ nén 3.5 lần</a:t>
            </a:r>
          </a:p>
          <a:p>
            <a:r>
              <a:t>- Bước 4: Triển khai trên NPU thông qua OpenVINO GenAI LLMPipeline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kiến trúc tổng thể của hệ thống.</a:t>
            </a:r>
          </a:p>
          <a:p/>
          <a:p>
            <a:r>
              <a:t>Ở bên trái là các client - các cách mà người dùng có thể tương tác với FinGPT:</a:t>
            </a:r>
          </a:p>
          <a:p>
            <a:r>
              <a:t>- Gradio Web UI: giao diện chat trên trình duyệt, dễ sử dụng nhất</a:t>
            </a:r>
          </a:p>
          <a:p>
            <a:r>
              <a:t>- OpenClaw TUI: nền tảng AI Agent chạy trên terminal, hỗ trợ streaming</a:t>
            </a:r>
          </a:p>
          <a:p>
            <a:r>
              <a:t>- CLI Interactive: giao diện dòng lệnh trực tiếp</a:t>
            </a:r>
          </a:p>
          <a:p>
            <a:r>
              <a:t>- Bất kỳ client OpenAI nào: vì API server tương thích hoàn toàn với OpenAI format, nên LangChain, curl, hay bất kỳ thư viện nào hỗ trợ OpenAI đều kết nối được</a:t>
            </a:r>
          </a:p>
          <a:p/>
          <a:p>
            <a:r>
              <a:t>Ở giữa là API Server được xây dựng bằng FastAPI. Server cung cấp 4 endpoint chính:</a:t>
            </a:r>
          </a:p>
          <a:p>
            <a:r>
              <a:t>- /v1/chat/completions: endpoint chính, hỗ trợ cả streaming SSE và non-streaming</a:t>
            </a:r>
          </a:p>
          <a:p>
            <a:r>
              <a:t>- /v1/responses: tương thích với OpenAI Responses API mới</a:t>
            </a:r>
          </a:p>
          <a:p>
            <a:r>
              <a:t>- /v1/completions: endpoint legacy cho tương thích ngược</a:t>
            </a:r>
          </a:p>
          <a:p>
            <a:r>
              <a:t>- /v1/models và /health: để kiểm tra trạng thái</a:t>
            </a:r>
          </a:p>
          <a:p/>
          <a:p>
            <a:r>
              <a:t>Bên phải là Intel NPU chạy mô hình thông qua OpenVINO GenAI LLMPipeline. Em đã cấu hình MAX_PROMPT_LEN=8192 để xử lý được các prompt lớn từ AI agent.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giải thích chi tiết về quá trình lượng tử hóa.</a:t>
            </a:r>
          </a:p>
          <a:p/>
          <a:p>
            <a:r>
              <a:t>Lượng tử hóa là kỹ thuật giảm kích thước mô hình bằng cách biểu diễn trọng số ở độ chính xác thấp hơn. Em sử dụng INT4, tức mỗi trọng số chỉ chiếm 4 bit thay vì 16 bit ở FP16 gốc.</a:t>
            </a:r>
          </a:p>
          <a:p/>
          <a:p>
            <a:r>
              <a:t>Các thông số quan trọng:</a:t>
            </a:r>
          </a:p>
          <a:p>
            <a:r>
              <a:t>- Symmetric quantization: bắt buộc cho Intel NPU. Đối xứng nghĩa là zero-point bằng 0, giúp tính toán đơn giản và nhanh hơn</a:t>
            </a:r>
          </a:p>
          <a:p>
            <a:r>
              <a:t>- Ratio 1.0: tất cả các layer đều được lượng tử hóa, cho tỷ lệ nén tối đa</a:t>
            </a:r>
          </a:p>
          <a:p>
            <a:r>
              <a:t>- Group size -1: lượng tử hóa theo kênh (channel-wise), cho độ chính xác tốt nhất với mô hình 7B trở lên</a:t>
            </a:r>
          </a:p>
          <a:p/>
          <a:p>
            <a:r>
              <a:t>Kết quả: mô hình giảm từ 16 GB xuống 4.5 GB, tỷ lệ nén 3.5 lần. Với 32 GB RAM, hệ thống vẫn còn dư nhiều bộ nhớ cho các tác vụ khác.</a:t>
            </a:r>
          </a:p>
          <a:p/>
          <a:p>
            <a:r>
              <a:t>Công cụ sử dụng là optimum-cli của HuggingFace, tích hợp sẵn với OpenVINO.</a:t>
            </a:r>
          </a:p>
          <a:p/>
          <a:p>
            <a:r>
              <a:t>Điều quan trọng là dù giảm kích thước đáng kể, chất lượng output cho các tác vụ tài chính vẫn rất tốt, như em sẽ chứng minh ở slide test results.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đã xây dựng bộ kiểm thử tự động gồm 14 test case, và tất cả đều pass.</a:t>
            </a:r>
          </a:p>
          <a:p/>
          <a:p>
            <a:r>
              <a:t>Phân tích tâm lý thị trường - 3/3: Bot phân tích chính xác tin tích cực, tiêu cực và trung lập. Ví dụ khi đưa tin Apple vượt kỳ vọng doanh thu, bot trả lời "positive" đúng. Khi tin Tesla sa thải nhân viên, bot trả lời "negative" đúng.</a:t>
            </a:r>
          </a:p>
          <a:p/>
          <a:p>
            <a:r>
              <a:t>Kiến thức tài chính - 3/3: Bot giải thích đúng các khái niệm như P/E ratio, bull/bear market, và đa dạng hóa đầu tư.</a:t>
            </a:r>
          </a:p>
          <a:p/>
          <a:p>
            <a:r>
              <a:t>Phân tích thị trường - 2/2: Bot phân tích được tại sao doanh thu tăng mà giá cổ phiếu lại giảm, và liệt kê đúng các chỉ báo suy thoái kinh tế.</a:t>
            </a:r>
          </a:p>
          <a:p/>
          <a:p>
            <a:r>
              <a:t>Xử lý văn bản - 2/2: Bot tóm tắt được báo cáo thu nhập và trích xuất chính xác các chỉ số tài chính.</a:t>
            </a:r>
          </a:p>
          <a:p/>
          <a:p>
            <a:r>
              <a:t>Ngoài ra, em còn test endpoint streaming SSE và Responses API, đều hoạt động tốt.</a:t>
            </a:r>
          </a:p>
          <a:p/>
          <a:p>
            <a:r>
              <a:t>Thời gian phản hồi trung bình là 22.5 giây trên NPU. Tuy chậm hơn cloud nhưng hoàn toàn miễn phí và bảo mật.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demo thực tế mà em đã chạy trên hệ thống.</a:t>
            </a:r>
          </a:p>
          <a:p/>
          <a:p>
            <a:r>
              <a:t>Em đưa vào một tin tức thực tế: "White House cập nhật về hoàn thuế: séc trung bình vượt 3.700 đô la khi người nộp thuế Mỹ nhận cắt giảm thuế 'lịch sử' của Trump."</a:t>
            </a:r>
          </a:p>
          <a:p/>
          <a:p>
            <a:r>
              <a:t>Bot FinGPT phân tích ra 3 phần:</a:t>
            </a:r>
          </a:p>
          <a:p/>
          <a:p>
            <a:r>
              <a:t>Phân tích tâm lý: Trung lập đến Tích cực. Bot nhận diện được từ "historic cuts" và mức hoàn thuế cao hơn là tín hiệu tích cực cho người tiêu dùng.</a:t>
            </a:r>
          </a:p>
          <a:p/>
          <a:p>
            <a:r>
              <a:t>Đánh giá tác động thị trường: Thu nhập khả dụng cao hơn (trung bình $3,700 mỗi người) có thể thúc đẩy chi tiêu tiêu dùng và hoạt động kinh tế nói chung.</a:t>
            </a:r>
          </a:p>
          <a:p/>
          <a:p>
            <a:r>
              <a:t>Khuyến nghị đầu tư: Bot gợi ý 4 lĩnh vực hưởng lợi:</a:t>
            </a:r>
          </a:p>
          <a:p>
            <a:r>
              <a:t>1. Hàng tiêu dùng thiết yếu</a:t>
            </a:r>
          </a:p>
          <a:p>
            <a:r>
              <a:t>2. Bán lẻ và thương mại điện tử</a:t>
            </a:r>
          </a:p>
          <a:p>
            <a:r>
              <a:t>3. Tổ chức tài chính - ngân hàng</a:t>
            </a:r>
          </a:p>
          <a:p>
            <a:r>
              <a:t>4. Hàng tiêu dùng không thiết yếu</a:t>
            </a:r>
          </a:p>
          <a:p/>
          <a:p>
            <a:r>
              <a:t>Đồng thời cảnh báo rủi ro từ lãi suất và lạm phát.</a:t>
            </a:r>
          </a:p>
          <a:p/>
          <a:p>
            <a:r>
              <a:t>Tất cả phân tích này được thực hiện hoàn toàn trên NPU, không cần internet.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hỗ trợ nhiều cách triển khai khác nhau.</a:t>
            </a:r>
          </a:p>
          <a:p/>
          <a:p>
            <a:r>
              <a:t>Đã sẵn sàng sử dụng ngay:</a:t>
            </a:r>
          </a:p>
          <a:p>
            <a:r>
              <a:t>- CLI Interactive: chat trực tiếp qua terminal, đơn giản nhất, chỉ cần chạy 1 lệnh python</a:t>
            </a:r>
          </a:p>
          <a:p>
            <a:r>
              <a:t>- Gradio Web UI: giao diện web đẹp, có lịch sử chat, dễ demo. Mở trình duyệt tại localhost:7860</a:t>
            </a:r>
          </a:p>
          <a:p>
            <a:r>
              <a:t>- API Server: đây là core của hệ thống. Server FastAPI chạy trên cổng 8000, cung cấp API tương thích OpenAI. Bất kỳ ứng dụng nào hỗ trợ OpenAI đều kết nối được</a:t>
            </a:r>
          </a:p>
          <a:p>
            <a:r>
              <a:t>- OpenClaw TUI: nền tảng AI Agent, hỗ trợ streaming SSE, có thể chạy như một agent tự động</a:t>
            </a:r>
          </a:p>
          <a:p/>
          <a:p>
            <a:r>
              <a:t>Sẵn sàng triển khai thêm:</a:t>
            </a:r>
          </a:p>
          <a:p>
            <a:r>
              <a:t>- Telegram Bot: kết nối API server với Telegram, chat trên điện thoại</a:t>
            </a:r>
          </a:p>
          <a:p>
            <a:r>
              <a:t>- Discord/Slack: tích hợp cho nhóm làm việc</a:t>
            </a:r>
          </a:p>
          <a:p/>
          <a:p>
            <a:r>
              <a:t>Điểm mạnh là vì API server tương thích OpenAI, việc thêm platform mới rất dễ dàng - chỉ cần trỏ đến http://localhost:8000/v1.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Tổng kết lại, dự án FinAI đã đạt được:</a:t>
            </a:r>
          </a:p>
          <a:p/>
          <a:p>
            <a:r>
              <a:t>- Triển khai thành công mô hình FinGPT 8 tỷ tham số trên Intel NPU</a:t>
            </a:r>
          </a:p>
          <a:p>
            <a:r>
              <a:t>- Lượng tử hóa INT4 giảm kích thước từ 16 GB xuống 4.5 GB, tỷ lệ nén 3.5 lần mà vẫn giữ chất lượng tốt</a:t>
            </a:r>
          </a:p>
          <a:p>
            <a:r>
              <a:t>- Xây dựng API server tương thích OpenAI với hỗ trợ streaming</a:t>
            </a:r>
          </a:p>
          <a:p>
            <a:r>
              <a:t>- 14/14 test case tự động đều pass, bao gồm phân tích tâm lý, kiến thức tài chính, và xử lý văn bản</a:t>
            </a:r>
          </a:p>
          <a:p>
            <a:r>
              <a:t>- Nhiều giao diện sử dụng: CLI, Web, API, và TUI</a:t>
            </a:r>
          </a:p>
          <a:p>
            <a:r>
              <a:t>- Khả năng phân tích tin tức tài chính thời gian thực</a:t>
            </a:r>
          </a:p>
          <a:p/>
          <a:p>
            <a:r>
              <a:t>Hướng phát triển tiếp theo:</a:t>
            </a:r>
          </a:p>
          <a:p>
            <a:r>
              <a:t>- Tích hợp Telegram và Discord bot để sử dụng trên điện thoại</a:t>
            </a:r>
          </a:p>
          <a:p>
            <a:r>
              <a:t>- Kết nối dữ liệu thị trường thời gian thực</a:t>
            </a:r>
          </a:p>
          <a:p>
            <a:r>
              <a:t>- Theo dõi danh mục đầu tư và cảnh báo tự động</a:t>
            </a:r>
          </a:p>
          <a:p>
            <a:r>
              <a:t>- Hỗ trợ nhiều mô hình FinGPT khác nhau</a:t>
            </a:r>
          </a:p>
          <a:p>
            <a:r>
              <a:t>- Xử lý hàng loạt cho phân tích tài liệu lớn</a:t>
            </a:r>
          </a:p>
          <a:p>
            <a:r>
              <a:t>- Và đặc biệt là tinh chỉnh mô hình trên dữ liệu tài chính Việt Nam</a:t>
            </a:r>
          </a:p>
          <a:p/>
          <a:p>
            <a:r>
              <a:t>Cảm ơn mọi người đã lắng nghe. Source code có trên GitHub tại github.com/NguyenPhanKhoa/FinAI.</a:t>
            </a:r>
          </a:p>
          <a:p/>
          <a:p>
            <a:r>
              <a:t>Mọi người có câu hỏi gì không ạ?</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1371600"/>
            <a:ext cx="10058400" cy="914400"/>
          </a:xfrm>
          <a:prstGeom prst="rect">
            <a:avLst/>
          </a:prstGeom>
          <a:noFill/>
        </p:spPr>
        <p:txBody>
          <a:bodyPr wrap="square">
            <a:spAutoFit/>
          </a:bodyPr>
          <a:lstStyle/>
          <a:p>
            <a:pPr algn="l">
              <a:defRPr sz="5400" b="1">
                <a:solidFill>
                  <a:srgbClr val="FFFFFF"/>
                </a:solidFill>
                <a:latin typeface="Segoe UI"/>
              </a:defRPr>
            </a:pPr>
            <a:r>
              <a:t>FinAI</a:t>
            </a:r>
          </a:p>
        </p:txBody>
      </p:sp>
      <p:sp>
        <p:nvSpPr>
          <p:cNvPr id="3" name="TextBox 2"/>
          <p:cNvSpPr txBox="1"/>
          <p:nvPr/>
        </p:nvSpPr>
        <p:spPr>
          <a:xfrm>
            <a:off x="914400" y="2286000"/>
            <a:ext cx="10058400" cy="731520"/>
          </a:xfrm>
          <a:prstGeom prst="rect">
            <a:avLst/>
          </a:prstGeom>
          <a:noFill/>
        </p:spPr>
        <p:txBody>
          <a:bodyPr wrap="square">
            <a:spAutoFit/>
          </a:bodyPr>
          <a:lstStyle/>
          <a:p>
            <a:pPr algn="l">
              <a:defRPr sz="3200" b="1">
                <a:solidFill>
                  <a:srgbClr val="00C7B7"/>
                </a:solidFill>
                <a:latin typeface="Segoe UI"/>
              </a:defRPr>
            </a:pPr>
            <a:r>
              <a:t>Financial AI on Intel NPU</a:t>
            </a:r>
          </a:p>
        </p:txBody>
      </p:sp>
      <p:sp>
        <p:nvSpPr>
          <p:cNvPr id="4" name="TextBox 3"/>
          <p:cNvSpPr txBox="1"/>
          <p:nvPr/>
        </p:nvSpPr>
        <p:spPr>
          <a:xfrm>
            <a:off x="914400" y="3200400"/>
            <a:ext cx="10058400" cy="731520"/>
          </a:xfrm>
          <a:prstGeom prst="rect">
            <a:avLst/>
          </a:prstGeom>
          <a:noFill/>
        </p:spPr>
        <p:txBody>
          <a:bodyPr wrap="square">
            <a:spAutoFit/>
          </a:bodyPr>
          <a:lstStyle/>
          <a:p>
            <a:pPr algn="l">
              <a:defRPr sz="1800" b="0">
                <a:solidFill>
                  <a:srgbClr val="BBBBBB"/>
                </a:solidFill>
                <a:latin typeface="Segoe UI"/>
              </a:defRPr>
            </a:pPr>
            <a:r>
              <a:t>Deploying FinGPT (Llama 3.1 8B + LoRA) on Intel Core Ultra 7 258V NPU</a:t>
            </a:r>
            <a:br/>
            <a:r>
              <a:t>using OpenVINO with INT4 Symmetric Quantization</a:t>
            </a:r>
          </a:p>
        </p:txBody>
      </p:sp>
      <p:sp>
        <p:nvSpPr>
          <p:cNvPr id="5" name="TextBox 4"/>
          <p:cNvSpPr txBox="1"/>
          <p:nvPr/>
        </p:nvSpPr>
        <p:spPr>
          <a:xfrm>
            <a:off x="914400" y="4389120"/>
            <a:ext cx="10058400" cy="457200"/>
          </a:xfrm>
          <a:prstGeom prst="rect">
            <a:avLst/>
          </a:prstGeom>
          <a:noFill/>
        </p:spPr>
        <p:txBody>
          <a:bodyPr wrap="square">
            <a:spAutoFit/>
          </a:bodyPr>
          <a:lstStyle/>
          <a:p>
            <a:pPr algn="l">
              <a:defRPr sz="1400" b="0">
                <a:solidFill>
                  <a:srgbClr val="0071C5"/>
                </a:solidFill>
                <a:latin typeface="Segoe UI"/>
              </a:defRPr>
            </a:pPr>
            <a:r>
              <a:t>47 TOPS NPU  |  INT4 Quantization  |  OpenAI-Compatible API  |  Real-time Financial Analysis</a:t>
            </a:r>
          </a:p>
        </p:txBody>
      </p:sp>
      <p:sp>
        <p:nvSpPr>
          <p:cNvPr id="6" name="TextBox 5"/>
          <p:cNvSpPr txBox="1"/>
          <p:nvPr/>
        </p:nvSpPr>
        <p:spPr>
          <a:xfrm>
            <a:off x="914400" y="5029200"/>
            <a:ext cx="10058400" cy="457200"/>
          </a:xfrm>
          <a:prstGeom prst="rect">
            <a:avLst/>
          </a:prstGeom>
          <a:noFill/>
        </p:spPr>
        <p:txBody>
          <a:bodyPr wrap="square">
            <a:spAutoFit/>
          </a:bodyPr>
          <a:lstStyle/>
          <a:p>
            <a:pPr algn="l">
              <a:defRPr sz="1600" b="0">
                <a:solidFill>
                  <a:srgbClr val="888888"/>
                </a:solidFill>
                <a:latin typeface="Segoe UI"/>
              </a:defRPr>
            </a:pPr>
            <a:r>
              <a:t>Nguyen Phan Khoa  |  March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Problem &amp; Motivation</a:t>
            </a:r>
          </a:p>
        </p:txBody>
      </p:sp>
      <p:sp>
        <p:nvSpPr>
          <p:cNvPr id="3" name="Rectangle 2"/>
          <p:cNvSpPr/>
          <p:nvPr/>
        </p:nvSpPr>
        <p:spPr>
          <a:xfrm>
            <a:off x="731520" y="1097280"/>
            <a:ext cx="2743200" cy="45720"/>
          </a:xfrm>
          <a:prstGeom prst="rect">
            <a:avLst/>
          </a:prstGeom>
          <a:solidFill>
            <a:srgbClr val="00C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2743200"/>
          </a:xfrm>
          <a:prstGeom prst="rect">
            <a:avLst/>
          </a:prstGeom>
          <a:noFill/>
        </p:spPr>
        <p:txBody>
          <a:bodyPr wrap="square">
            <a:spAutoFit/>
          </a:bodyPr>
          <a:lstStyle/>
          <a:p>
            <a:pPr>
              <a:spcAft>
                <a:spcPts val="800"/>
              </a:spcAft>
              <a:defRPr sz="1600">
                <a:solidFill>
                  <a:srgbClr val="BBBBBB"/>
                </a:solidFill>
                <a:latin typeface="Segoe UI"/>
              </a:defRPr>
            </a:pPr>
            <a:r>
              <a:t>Cloud-based financial AI: high latency &amp; cost for real-time trading</a:t>
            </a:r>
          </a:p>
          <a:p>
            <a:pPr>
              <a:spcAft>
                <a:spcPts val="800"/>
              </a:spcAft>
              <a:defRPr sz="1600">
                <a:solidFill>
                  <a:srgbClr val="BBBBBB"/>
                </a:solidFill>
                <a:latin typeface="Segoe UI"/>
              </a:defRPr>
            </a:pPr>
            <a:r>
              <a:t>Financial data is sensitive - cloud APIs raise privacy concerns</a:t>
            </a:r>
          </a:p>
          <a:p>
            <a:pPr>
              <a:spcAft>
                <a:spcPts val="800"/>
              </a:spcAft>
              <a:defRPr sz="1600">
                <a:solidFill>
                  <a:srgbClr val="BBBBBB"/>
                </a:solidFill>
                <a:latin typeface="Segoe UI"/>
              </a:defRPr>
            </a:pPr>
            <a:r>
              <a:t>Existing on-device LLM solutions ignore Intel NPU acceleration</a:t>
            </a:r>
          </a:p>
          <a:p>
            <a:pPr>
              <a:spcAft>
                <a:spcPts val="800"/>
              </a:spcAft>
              <a:defRPr sz="1600">
                <a:solidFill>
                  <a:srgbClr val="BBBBBB"/>
                </a:solidFill>
                <a:latin typeface="Segoe UI"/>
              </a:defRPr>
            </a:pPr>
            <a:r>
              <a:t>No turnkey pipeline for financial LLMs on consumer Intel hardware</a:t>
            </a:r>
          </a:p>
        </p:txBody>
      </p:sp>
      <p:sp>
        <p:nvSpPr>
          <p:cNvPr id="5" name="Rectangle 4"/>
          <p:cNvSpPr/>
          <p:nvPr/>
        </p:nvSpPr>
        <p:spPr>
          <a:xfrm>
            <a:off x="6400800" y="1463040"/>
            <a:ext cx="5029200" cy="13716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0" y="1600200"/>
            <a:ext cx="4663440" cy="1097280"/>
          </a:xfrm>
          <a:prstGeom prst="rect">
            <a:avLst/>
          </a:prstGeom>
          <a:noFill/>
        </p:spPr>
        <p:txBody>
          <a:bodyPr wrap="square">
            <a:spAutoFit/>
          </a:bodyPr>
          <a:lstStyle/>
          <a:p>
            <a:pPr>
              <a:defRPr sz="1400" b="1">
                <a:solidFill>
                  <a:srgbClr val="00C853"/>
                </a:solidFill>
                <a:latin typeface="Segoe UI"/>
              </a:defRPr>
            </a:pPr>
            <a:r>
              <a:t>Our Solution</a:t>
            </a:r>
          </a:p>
          <a:p>
            <a:pPr>
              <a:spcBef>
                <a:spcPts val="600"/>
              </a:spcBef>
              <a:defRPr sz="1200">
                <a:solidFill>
                  <a:srgbClr val="BBBBBB"/>
                </a:solidFill>
                <a:latin typeface="Segoe UI"/>
              </a:defRPr>
            </a:pPr>
            <a:r>
              <a:t>End-to-end pipeline to deploy FinGPT on Intel NPU with INT4</a:t>
            </a:r>
            <a:br/>
            <a:r>
              <a:t>quantization, served via OpenAI-compatible API for local,</a:t>
            </a:r>
            <a:br/>
            <a:r>
              <a:t>private, low-latency financial AI.</a:t>
            </a:r>
          </a:p>
        </p:txBody>
      </p:sp>
      <p:sp>
        <p:nvSpPr>
          <p:cNvPr id="7" name="Rectangle 6"/>
          <p:cNvSpPr/>
          <p:nvPr/>
        </p:nvSpPr>
        <p:spPr>
          <a:xfrm>
            <a:off x="6400800" y="3200400"/>
            <a:ext cx="5029200" cy="13716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3337560"/>
            <a:ext cx="4663440" cy="1097280"/>
          </a:xfrm>
          <a:prstGeom prst="rect">
            <a:avLst/>
          </a:prstGeom>
          <a:noFill/>
        </p:spPr>
        <p:txBody>
          <a:bodyPr wrap="square">
            <a:spAutoFit/>
          </a:bodyPr>
          <a:lstStyle/>
          <a:p>
            <a:pPr>
              <a:defRPr sz="1400" b="1">
                <a:solidFill>
                  <a:srgbClr val="00C7B7"/>
                </a:solidFill>
                <a:latin typeface="Segoe UI"/>
              </a:defRPr>
            </a:pPr>
            <a:r>
              <a:t>Key Benefits</a:t>
            </a:r>
          </a:p>
          <a:p>
            <a:pPr>
              <a:spcBef>
                <a:spcPts val="600"/>
              </a:spcBef>
              <a:defRPr sz="1200">
                <a:solidFill>
                  <a:srgbClr val="BBBBBB"/>
                </a:solidFill>
                <a:latin typeface="Segoe UI"/>
              </a:defRPr>
            </a:pPr>
            <a:r>
              <a:t>- Zero cloud cost, full data privacy</a:t>
            </a:r>
            <a:br/>
            <a:r>
              <a:t>- 47 TOPS NPU acceleration</a:t>
            </a:r>
            <a:br/>
            <a:r>
              <a:t>- Drop-in replacement for OpenAI API</a:t>
            </a:r>
            <a:br/>
            <a:r>
              <a:t>- Financial domain expertise (FinGPT LoRA)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Target Hardware</a:t>
            </a:r>
          </a:p>
        </p:txBody>
      </p:sp>
      <p:sp>
        <p:nvSpPr>
          <p:cNvPr id="3" name="Rectangle 2"/>
          <p:cNvSpPr/>
          <p:nvPr/>
        </p:nvSpPr>
        <p:spPr>
          <a:xfrm>
            <a:off x="731520" y="1097280"/>
            <a:ext cx="2743200" cy="45720"/>
          </a:xfrm>
          <a:prstGeom prst="rect">
            <a:avLst/>
          </a:prstGeom>
          <a:solidFill>
            <a:srgbClr val="00C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463040"/>
            <a:ext cx="3200400" cy="77724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2834640" cy="502920"/>
          </a:xfrm>
          <a:prstGeom prst="rect">
            <a:avLst/>
          </a:prstGeom>
          <a:noFill/>
        </p:spPr>
        <p:txBody>
          <a:bodyPr wrap="square">
            <a:spAutoFit/>
          </a:bodyPr>
          <a:lstStyle/>
          <a:p>
            <a:pPr>
              <a:defRPr sz="1400" b="1">
                <a:solidFill>
                  <a:srgbClr val="0071C5"/>
                </a:solidFill>
                <a:latin typeface="Segoe UI"/>
              </a:defRPr>
            </a:pPr>
            <a:r>
              <a:t>CPU</a:t>
            </a:r>
          </a:p>
          <a:p>
            <a:pPr>
              <a:spcBef>
                <a:spcPts val="600"/>
              </a:spcBef>
              <a:defRPr sz="1200">
                <a:solidFill>
                  <a:srgbClr val="BBBBBB"/>
                </a:solidFill>
                <a:latin typeface="Segoe UI"/>
              </a:defRPr>
            </a:pPr>
            <a:r>
              <a:t>Intel Core Ultra 7 258V (Lunar Lake)</a:t>
            </a:r>
            <a:br/>
            <a:r>
              <a:t>8 cores, up to 4.8 GHz</a:t>
            </a:r>
          </a:p>
        </p:txBody>
      </p:sp>
      <p:sp>
        <p:nvSpPr>
          <p:cNvPr id="6" name="Rectangle 5"/>
          <p:cNvSpPr/>
          <p:nvPr/>
        </p:nvSpPr>
        <p:spPr>
          <a:xfrm>
            <a:off x="731520" y="2377440"/>
            <a:ext cx="3200400" cy="77724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14600"/>
            <a:ext cx="2834640" cy="502920"/>
          </a:xfrm>
          <a:prstGeom prst="rect">
            <a:avLst/>
          </a:prstGeom>
          <a:noFill/>
        </p:spPr>
        <p:txBody>
          <a:bodyPr wrap="square">
            <a:spAutoFit/>
          </a:bodyPr>
          <a:lstStyle/>
          <a:p>
            <a:pPr>
              <a:defRPr sz="1400" b="1">
                <a:solidFill>
                  <a:srgbClr val="0071C5"/>
                </a:solidFill>
                <a:latin typeface="Segoe UI"/>
              </a:defRPr>
            </a:pPr>
            <a:r>
              <a:t>NPU</a:t>
            </a:r>
          </a:p>
          <a:p>
            <a:pPr>
              <a:spcBef>
                <a:spcPts val="600"/>
              </a:spcBef>
              <a:defRPr sz="1200">
                <a:solidFill>
                  <a:srgbClr val="BBBBBB"/>
                </a:solidFill>
                <a:latin typeface="Segoe UI"/>
              </a:defRPr>
            </a:pPr>
            <a:r>
              <a:t>Intel AI Boost NPU</a:t>
            </a:r>
            <a:br/>
            <a:r>
              <a:t>47 TOPS INT8 performance</a:t>
            </a:r>
          </a:p>
        </p:txBody>
      </p:sp>
      <p:sp>
        <p:nvSpPr>
          <p:cNvPr id="8" name="Rectangle 7"/>
          <p:cNvSpPr/>
          <p:nvPr/>
        </p:nvSpPr>
        <p:spPr>
          <a:xfrm>
            <a:off x="731520" y="3291840"/>
            <a:ext cx="3200400" cy="77724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429000"/>
            <a:ext cx="2834640" cy="502920"/>
          </a:xfrm>
          <a:prstGeom prst="rect">
            <a:avLst/>
          </a:prstGeom>
          <a:noFill/>
        </p:spPr>
        <p:txBody>
          <a:bodyPr wrap="square">
            <a:spAutoFit/>
          </a:bodyPr>
          <a:lstStyle/>
          <a:p>
            <a:pPr>
              <a:defRPr sz="1400" b="1">
                <a:solidFill>
                  <a:srgbClr val="0071C5"/>
                </a:solidFill>
                <a:latin typeface="Segoe UI"/>
              </a:defRPr>
            </a:pPr>
            <a:r>
              <a:t>GPU</a:t>
            </a:r>
          </a:p>
          <a:p>
            <a:pPr>
              <a:spcBef>
                <a:spcPts val="600"/>
              </a:spcBef>
              <a:defRPr sz="1200">
                <a:solidFill>
                  <a:srgbClr val="BBBBBB"/>
                </a:solidFill>
                <a:latin typeface="Segoe UI"/>
              </a:defRPr>
            </a:pPr>
            <a:r>
              <a:t>Intel Arc 140V</a:t>
            </a:r>
            <a:br/>
            <a:r>
              <a:t>8 Xe2 cores, 16 GB shared</a:t>
            </a:r>
          </a:p>
        </p:txBody>
      </p:sp>
      <p:sp>
        <p:nvSpPr>
          <p:cNvPr id="10" name="Rectangle 9"/>
          <p:cNvSpPr/>
          <p:nvPr/>
        </p:nvSpPr>
        <p:spPr>
          <a:xfrm>
            <a:off x="731520" y="4206240"/>
            <a:ext cx="3200400" cy="77724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343400"/>
            <a:ext cx="2834640" cy="502920"/>
          </a:xfrm>
          <a:prstGeom prst="rect">
            <a:avLst/>
          </a:prstGeom>
          <a:noFill/>
        </p:spPr>
        <p:txBody>
          <a:bodyPr wrap="square">
            <a:spAutoFit/>
          </a:bodyPr>
          <a:lstStyle/>
          <a:p>
            <a:pPr>
              <a:defRPr sz="1400" b="1">
                <a:solidFill>
                  <a:srgbClr val="0071C5"/>
                </a:solidFill>
                <a:latin typeface="Segoe UI"/>
              </a:defRPr>
            </a:pPr>
            <a:r>
              <a:t>RAM</a:t>
            </a:r>
          </a:p>
          <a:p>
            <a:pPr>
              <a:spcBef>
                <a:spcPts val="600"/>
              </a:spcBef>
              <a:defRPr sz="1200">
                <a:solidFill>
                  <a:srgbClr val="BBBBBB"/>
                </a:solidFill>
                <a:latin typeface="Segoe UI"/>
              </a:defRPr>
            </a:pPr>
            <a:r>
              <a:t>32 GB LPDDR5x</a:t>
            </a:r>
            <a:br/>
            <a:r>
              <a:t>8533 MHz, dual channel</a:t>
            </a:r>
          </a:p>
        </p:txBody>
      </p:sp>
      <p:sp>
        <p:nvSpPr>
          <p:cNvPr id="12" name="Rectangle 11"/>
          <p:cNvSpPr/>
          <p:nvPr/>
        </p:nvSpPr>
        <p:spPr>
          <a:xfrm>
            <a:off x="731520" y="5120640"/>
            <a:ext cx="3200400" cy="77724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257800"/>
            <a:ext cx="2834640" cy="502920"/>
          </a:xfrm>
          <a:prstGeom prst="rect">
            <a:avLst/>
          </a:prstGeom>
          <a:noFill/>
        </p:spPr>
        <p:txBody>
          <a:bodyPr wrap="square">
            <a:spAutoFit/>
          </a:bodyPr>
          <a:lstStyle/>
          <a:p>
            <a:pPr>
              <a:defRPr sz="1400" b="1">
                <a:solidFill>
                  <a:srgbClr val="0071C5"/>
                </a:solidFill>
                <a:latin typeface="Segoe UI"/>
              </a:defRPr>
            </a:pPr>
            <a:r>
              <a:t>OS</a:t>
            </a:r>
          </a:p>
          <a:p>
            <a:pPr>
              <a:spcBef>
                <a:spcPts val="600"/>
              </a:spcBef>
              <a:defRPr sz="1200">
                <a:solidFill>
                  <a:srgbClr val="BBBBBB"/>
                </a:solidFill>
                <a:latin typeface="Segoe UI"/>
              </a:defRPr>
            </a:pPr>
            <a:r>
              <a:t>Windows 11</a:t>
            </a:r>
            <a:br/>
            <a:r>
              <a:t>Intel NPU Driver installed</a:t>
            </a:r>
          </a:p>
        </p:txBody>
      </p:sp>
      <p:sp>
        <p:nvSpPr>
          <p:cNvPr id="14" name="Rectangle 13"/>
          <p:cNvSpPr/>
          <p:nvPr/>
        </p:nvSpPr>
        <p:spPr>
          <a:xfrm>
            <a:off x="4572000" y="1463040"/>
            <a:ext cx="6858000" cy="22860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1600200"/>
            <a:ext cx="6492240" cy="2011680"/>
          </a:xfrm>
          <a:prstGeom prst="rect">
            <a:avLst/>
          </a:prstGeom>
          <a:noFill/>
        </p:spPr>
        <p:txBody>
          <a:bodyPr wrap="square">
            <a:spAutoFit/>
          </a:bodyPr>
          <a:lstStyle/>
          <a:p>
            <a:pPr>
              <a:defRPr sz="1400" b="1">
                <a:solidFill>
                  <a:srgbClr val="FF9F00"/>
                </a:solidFill>
                <a:latin typeface="Segoe UI"/>
              </a:defRPr>
            </a:pPr>
            <a:r>
              <a:t>Why Intel NPU?</a:t>
            </a:r>
          </a:p>
          <a:p>
            <a:pPr>
              <a:spcBef>
                <a:spcPts val="600"/>
              </a:spcBef>
              <a:defRPr sz="1200">
                <a:solidFill>
                  <a:srgbClr val="BBBBBB"/>
                </a:solidFill>
                <a:latin typeface="Segoe UI"/>
              </a:defRPr>
            </a:pPr>
            <a:r>
              <a:t>- Dedicated AI accelerator - frees CPU/GPU</a:t>
            </a:r>
            <a:br/>
            <a:r>
              <a:t>- 47 TOPS at low power consumption</a:t>
            </a:r>
            <a:br/>
            <a:r>
              <a:t>- Native INT4/INT8 support</a:t>
            </a:r>
            <a:br/>
            <a:r>
              <a:t>- Always-on, no discrete GPU required</a:t>
            </a:r>
            <a:br/>
            <a:r>
              <a:t>- Ideal for edge/on-device AI inference</a:t>
            </a:r>
          </a:p>
        </p:txBody>
      </p:sp>
      <p:sp>
        <p:nvSpPr>
          <p:cNvPr id="16" name="Rectangle 15"/>
          <p:cNvSpPr/>
          <p:nvPr/>
        </p:nvSpPr>
        <p:spPr>
          <a:xfrm>
            <a:off x="4572000" y="4114800"/>
            <a:ext cx="6858000" cy="13716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0" y="4251960"/>
            <a:ext cx="6492240" cy="1097280"/>
          </a:xfrm>
          <a:prstGeom prst="rect">
            <a:avLst/>
          </a:prstGeom>
          <a:noFill/>
        </p:spPr>
        <p:txBody>
          <a:bodyPr wrap="square">
            <a:spAutoFit/>
          </a:bodyPr>
          <a:lstStyle/>
          <a:p>
            <a:pPr>
              <a:defRPr sz="1400" b="1">
                <a:solidFill>
                  <a:srgbClr val="00C7B7"/>
                </a:solidFill>
                <a:latin typeface="Segoe UI"/>
              </a:defRPr>
            </a:pPr>
            <a:r>
              <a:t>NPU vs Cloud</a:t>
            </a:r>
          </a:p>
          <a:p>
            <a:pPr>
              <a:spcBef>
                <a:spcPts val="600"/>
              </a:spcBef>
              <a:defRPr sz="1200">
                <a:solidFill>
                  <a:srgbClr val="BBBBBB"/>
                </a:solidFill>
                <a:latin typeface="Segoe UI"/>
              </a:defRPr>
            </a:pPr>
            <a:r>
              <a:t>NPU: ~22s/response, $0 cost, full privacy, offline capable</a:t>
            </a:r>
            <a:br/>
            <a:r>
              <a:t>Cloud API: ~2-5s/response, $0.01-0.06/request, data sent externally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Model Architecture</a:t>
            </a:r>
          </a:p>
        </p:txBody>
      </p:sp>
      <p:sp>
        <p:nvSpPr>
          <p:cNvPr id="3" name="Rectangle 2"/>
          <p:cNvSpPr/>
          <p:nvPr/>
        </p:nvSpPr>
        <p:spPr>
          <a:xfrm>
            <a:off x="731520" y="1097280"/>
            <a:ext cx="2743200" cy="45720"/>
          </a:xfrm>
          <a:prstGeom prst="rect">
            <a:avLst/>
          </a:prstGeom>
          <a:solidFill>
            <a:srgbClr val="00C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463040"/>
            <a:ext cx="3200400" cy="18288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2834640" cy="1554480"/>
          </a:xfrm>
          <a:prstGeom prst="rect">
            <a:avLst/>
          </a:prstGeom>
          <a:noFill/>
        </p:spPr>
        <p:txBody>
          <a:bodyPr wrap="square">
            <a:spAutoFit/>
          </a:bodyPr>
          <a:lstStyle/>
          <a:p>
            <a:pPr>
              <a:defRPr sz="1400" b="1">
                <a:solidFill>
                  <a:srgbClr val="0071C5"/>
                </a:solidFill>
                <a:latin typeface="Segoe UI"/>
              </a:defRPr>
            </a:pPr>
            <a:r>
              <a:t>Base Model</a:t>
            </a:r>
          </a:p>
          <a:p>
            <a:pPr>
              <a:spcBef>
                <a:spcPts val="600"/>
              </a:spcBef>
              <a:defRPr sz="1200">
                <a:solidFill>
                  <a:srgbClr val="BBBBBB"/>
                </a:solidFill>
                <a:latin typeface="Segoe UI"/>
              </a:defRPr>
            </a:pPr>
            <a:r>
              <a:t>Meta Llama 3.1 8B Instruct</a:t>
            </a:r>
            <a:br/>
            <a:r>
              <a:t>- 8 billion parameters</a:t>
            </a:r>
            <a:br/>
            <a:r>
              <a:t>- Instruction-tuned</a:t>
            </a:r>
            <a:br/>
            <a:r>
              <a:t>- 128K context window</a:t>
            </a:r>
            <a:br/>
            <a:r>
              <a:t>- FP16: ~16 GB</a:t>
            </a:r>
          </a:p>
        </p:txBody>
      </p:sp>
      <p:sp>
        <p:nvSpPr>
          <p:cNvPr id="6" name="Rectangle 5"/>
          <p:cNvSpPr/>
          <p:nvPr/>
        </p:nvSpPr>
        <p:spPr>
          <a:xfrm>
            <a:off x="4389120" y="1463040"/>
            <a:ext cx="3200400" cy="18288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600200"/>
            <a:ext cx="2834640" cy="1554480"/>
          </a:xfrm>
          <a:prstGeom prst="rect">
            <a:avLst/>
          </a:prstGeom>
          <a:noFill/>
        </p:spPr>
        <p:txBody>
          <a:bodyPr wrap="square">
            <a:spAutoFit/>
          </a:bodyPr>
          <a:lstStyle/>
          <a:p>
            <a:pPr>
              <a:defRPr sz="1400" b="1">
                <a:solidFill>
                  <a:srgbClr val="00C853"/>
                </a:solidFill>
                <a:latin typeface="Segoe UI"/>
              </a:defRPr>
            </a:pPr>
            <a:r>
              <a:t>FinGPT LoRA Adapter</a:t>
            </a:r>
          </a:p>
          <a:p>
            <a:pPr>
              <a:spcBef>
                <a:spcPts val="600"/>
              </a:spcBef>
              <a:defRPr sz="1200">
                <a:solidFill>
                  <a:srgbClr val="BBBBBB"/>
                </a:solidFill>
                <a:latin typeface="Segoe UI"/>
              </a:defRPr>
            </a:pPr>
            <a:r>
              <a:t>FinGPT/fingpt-mt_llama3-8b_lora</a:t>
            </a:r>
            <a:br/>
            <a:r>
              <a:t>- Financial domain fine-tune</a:t>
            </a:r>
            <a:br/>
            <a:r>
              <a:t>- Sentiment analysis</a:t>
            </a:r>
            <a:br/>
            <a:r>
              <a:t>- Market forecasting</a:t>
            </a:r>
            <a:br/>
            <a:r>
              <a:t>- Multi-task financial NLP</a:t>
            </a:r>
          </a:p>
        </p:txBody>
      </p:sp>
      <p:sp>
        <p:nvSpPr>
          <p:cNvPr id="8" name="Rectangle 7"/>
          <p:cNvSpPr/>
          <p:nvPr/>
        </p:nvSpPr>
        <p:spPr>
          <a:xfrm>
            <a:off x="8046720" y="1463040"/>
            <a:ext cx="3383280" cy="18288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600200"/>
            <a:ext cx="3017520" cy="1554480"/>
          </a:xfrm>
          <a:prstGeom prst="rect">
            <a:avLst/>
          </a:prstGeom>
          <a:noFill/>
        </p:spPr>
        <p:txBody>
          <a:bodyPr wrap="square">
            <a:spAutoFit/>
          </a:bodyPr>
          <a:lstStyle/>
          <a:p>
            <a:pPr>
              <a:defRPr sz="1400" b="1">
                <a:solidFill>
                  <a:srgbClr val="FF9F00"/>
                </a:solidFill>
                <a:latin typeface="Segoe UI"/>
              </a:defRPr>
            </a:pPr>
            <a:r>
              <a:t>Quantized Output</a:t>
            </a:r>
          </a:p>
          <a:p>
            <a:pPr>
              <a:spcBef>
                <a:spcPts val="600"/>
              </a:spcBef>
              <a:defRPr sz="1200">
                <a:solidFill>
                  <a:srgbClr val="BBBBBB"/>
                </a:solidFill>
                <a:latin typeface="Segoe UI"/>
              </a:defRPr>
            </a:pPr>
            <a:r>
              <a:t>OpenVINO IR + INT4 Symmetric</a:t>
            </a:r>
            <a:br/>
            <a:r>
              <a:t>- ~4.5 GB on disk</a:t>
            </a:r>
            <a:br/>
            <a:r>
              <a:t>- Channel-wise (group_size: -1)</a:t>
            </a:r>
            <a:br/>
            <a:r>
              <a:t>- NPU-optimized layout</a:t>
            </a:r>
            <a:br/>
            <a:r>
              <a:t>- MAX_PROMPT_LEN: 8192</a:t>
            </a:r>
          </a:p>
        </p:txBody>
      </p:sp>
      <p:sp>
        <p:nvSpPr>
          <p:cNvPr id="10" name="TextBox 9"/>
          <p:cNvSpPr txBox="1"/>
          <p:nvPr/>
        </p:nvSpPr>
        <p:spPr>
          <a:xfrm>
            <a:off x="3977639" y="2011680"/>
            <a:ext cx="457200" cy="457200"/>
          </a:xfrm>
          <a:prstGeom prst="rect">
            <a:avLst/>
          </a:prstGeom>
          <a:noFill/>
        </p:spPr>
        <p:txBody>
          <a:bodyPr wrap="square">
            <a:spAutoFit/>
          </a:bodyPr>
          <a:lstStyle/>
          <a:p>
            <a:pPr algn="l">
              <a:defRPr sz="2800" b="1">
                <a:solidFill>
                  <a:srgbClr val="00C7B7"/>
                </a:solidFill>
                <a:latin typeface="Segoe UI"/>
              </a:defRPr>
            </a:pPr>
            <a:r>
              <a:t>-&gt;</a:t>
            </a:r>
          </a:p>
        </p:txBody>
      </p:sp>
      <p:sp>
        <p:nvSpPr>
          <p:cNvPr id="11" name="TextBox 10"/>
          <p:cNvSpPr txBox="1"/>
          <p:nvPr/>
        </p:nvSpPr>
        <p:spPr>
          <a:xfrm>
            <a:off x="7635240" y="2011680"/>
            <a:ext cx="457200" cy="457200"/>
          </a:xfrm>
          <a:prstGeom prst="rect">
            <a:avLst/>
          </a:prstGeom>
          <a:noFill/>
        </p:spPr>
        <p:txBody>
          <a:bodyPr wrap="square">
            <a:spAutoFit/>
          </a:bodyPr>
          <a:lstStyle/>
          <a:p>
            <a:pPr algn="l">
              <a:defRPr sz="2800" b="1">
                <a:solidFill>
                  <a:srgbClr val="00C7B7"/>
                </a:solidFill>
                <a:latin typeface="Segoe UI"/>
              </a:defRPr>
            </a:pPr>
            <a:r>
              <a:t>-&gt;</a:t>
            </a:r>
          </a:p>
        </p:txBody>
      </p:sp>
      <p:sp>
        <p:nvSpPr>
          <p:cNvPr id="12" name="TextBox 11"/>
          <p:cNvSpPr txBox="1"/>
          <p:nvPr/>
        </p:nvSpPr>
        <p:spPr>
          <a:xfrm>
            <a:off x="731520" y="3657600"/>
            <a:ext cx="10058400" cy="457200"/>
          </a:xfrm>
          <a:prstGeom prst="rect">
            <a:avLst/>
          </a:prstGeom>
          <a:noFill/>
        </p:spPr>
        <p:txBody>
          <a:bodyPr wrap="square">
            <a:spAutoFit/>
          </a:bodyPr>
          <a:lstStyle/>
          <a:p>
            <a:pPr algn="l">
              <a:defRPr sz="2400" b="1">
                <a:solidFill>
                  <a:srgbClr val="FFFFFF"/>
                </a:solidFill>
                <a:latin typeface="Segoe UI"/>
              </a:defRPr>
            </a:pPr>
            <a:r>
              <a:t>Deployment Pipeline</a:t>
            </a:r>
          </a:p>
        </p:txBody>
      </p:sp>
      <p:sp>
        <p:nvSpPr>
          <p:cNvPr id="13" name="Rectangle 12"/>
          <p:cNvSpPr/>
          <p:nvPr/>
        </p:nvSpPr>
        <p:spPr>
          <a:xfrm>
            <a:off x="731520" y="4297680"/>
            <a:ext cx="2560320" cy="13716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434840"/>
            <a:ext cx="2194560" cy="1097280"/>
          </a:xfrm>
          <a:prstGeom prst="rect">
            <a:avLst/>
          </a:prstGeom>
          <a:noFill/>
        </p:spPr>
        <p:txBody>
          <a:bodyPr wrap="square">
            <a:spAutoFit/>
          </a:bodyPr>
          <a:lstStyle/>
          <a:p>
            <a:pPr>
              <a:defRPr sz="1400" b="1">
                <a:solidFill>
                  <a:srgbClr val="00C7B7"/>
                </a:solidFill>
                <a:latin typeface="Segoe UI"/>
              </a:defRPr>
            </a:pPr>
            <a:r>
              <a:t>Step 01: Download</a:t>
            </a:r>
          </a:p>
          <a:p>
            <a:pPr>
              <a:spcBef>
                <a:spcPts val="600"/>
              </a:spcBef>
              <a:defRPr sz="1200">
                <a:solidFill>
                  <a:srgbClr val="BBBBBB"/>
                </a:solidFill>
                <a:latin typeface="Segoe UI"/>
              </a:defRPr>
            </a:pPr>
            <a:r>
              <a:t>Base model + LoRA</a:t>
            </a:r>
            <a:br/>
            <a:r>
              <a:t>from HuggingFace</a:t>
            </a:r>
          </a:p>
        </p:txBody>
      </p:sp>
      <p:sp>
        <p:nvSpPr>
          <p:cNvPr id="15" name="TextBox 14"/>
          <p:cNvSpPr txBox="1"/>
          <p:nvPr/>
        </p:nvSpPr>
        <p:spPr>
          <a:xfrm>
            <a:off x="3337560" y="4754880"/>
            <a:ext cx="274320" cy="457200"/>
          </a:xfrm>
          <a:prstGeom prst="rect">
            <a:avLst/>
          </a:prstGeom>
          <a:noFill/>
        </p:spPr>
        <p:txBody>
          <a:bodyPr wrap="square">
            <a:spAutoFit/>
          </a:bodyPr>
          <a:lstStyle/>
          <a:p>
            <a:pPr algn="l">
              <a:defRPr sz="2200" b="1">
                <a:solidFill>
                  <a:srgbClr val="00C7B7"/>
                </a:solidFill>
                <a:latin typeface="Segoe UI"/>
              </a:defRPr>
            </a:pPr>
            <a:r>
              <a:t>-&gt;</a:t>
            </a:r>
          </a:p>
        </p:txBody>
      </p:sp>
      <p:sp>
        <p:nvSpPr>
          <p:cNvPr id="16" name="Rectangle 15"/>
          <p:cNvSpPr/>
          <p:nvPr/>
        </p:nvSpPr>
        <p:spPr>
          <a:xfrm>
            <a:off x="3566160" y="4297680"/>
            <a:ext cx="2560320" cy="13716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0" y="4434840"/>
            <a:ext cx="2194560" cy="1097280"/>
          </a:xfrm>
          <a:prstGeom prst="rect">
            <a:avLst/>
          </a:prstGeom>
          <a:noFill/>
        </p:spPr>
        <p:txBody>
          <a:bodyPr wrap="square">
            <a:spAutoFit/>
          </a:bodyPr>
          <a:lstStyle/>
          <a:p>
            <a:pPr>
              <a:defRPr sz="1400" b="1">
                <a:solidFill>
                  <a:srgbClr val="00C7B7"/>
                </a:solidFill>
                <a:latin typeface="Segoe UI"/>
              </a:defRPr>
            </a:pPr>
            <a:r>
              <a:t>Step 02: Merge</a:t>
            </a:r>
          </a:p>
          <a:p>
            <a:pPr>
              <a:spcBef>
                <a:spcPts val="600"/>
              </a:spcBef>
              <a:defRPr sz="1200">
                <a:solidFill>
                  <a:srgbClr val="BBBBBB"/>
                </a:solidFill>
                <a:latin typeface="Segoe UI"/>
              </a:defRPr>
            </a:pPr>
            <a:r>
              <a:t>LoRA into base</a:t>
            </a:r>
            <a:br/>
            <a:r>
              <a:t>via PEFT</a:t>
            </a:r>
          </a:p>
        </p:txBody>
      </p:sp>
      <p:sp>
        <p:nvSpPr>
          <p:cNvPr id="18" name="TextBox 17"/>
          <p:cNvSpPr txBox="1"/>
          <p:nvPr/>
        </p:nvSpPr>
        <p:spPr>
          <a:xfrm>
            <a:off x="6172200" y="4754880"/>
            <a:ext cx="274320" cy="457200"/>
          </a:xfrm>
          <a:prstGeom prst="rect">
            <a:avLst/>
          </a:prstGeom>
          <a:noFill/>
        </p:spPr>
        <p:txBody>
          <a:bodyPr wrap="square">
            <a:spAutoFit/>
          </a:bodyPr>
          <a:lstStyle/>
          <a:p>
            <a:pPr algn="l">
              <a:defRPr sz="2200" b="1">
                <a:solidFill>
                  <a:srgbClr val="00C7B7"/>
                </a:solidFill>
                <a:latin typeface="Segoe UI"/>
              </a:defRPr>
            </a:pPr>
            <a:r>
              <a:t>-&gt;</a:t>
            </a:r>
          </a:p>
        </p:txBody>
      </p:sp>
      <p:sp>
        <p:nvSpPr>
          <p:cNvPr id="19" name="Rectangle 18"/>
          <p:cNvSpPr/>
          <p:nvPr/>
        </p:nvSpPr>
        <p:spPr>
          <a:xfrm>
            <a:off x="6400800" y="4297680"/>
            <a:ext cx="2560320" cy="13716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4434840"/>
            <a:ext cx="2194560" cy="1097280"/>
          </a:xfrm>
          <a:prstGeom prst="rect">
            <a:avLst/>
          </a:prstGeom>
          <a:noFill/>
        </p:spPr>
        <p:txBody>
          <a:bodyPr wrap="square">
            <a:spAutoFit/>
          </a:bodyPr>
          <a:lstStyle/>
          <a:p>
            <a:pPr>
              <a:defRPr sz="1400" b="1">
                <a:solidFill>
                  <a:srgbClr val="00C7B7"/>
                </a:solidFill>
                <a:latin typeface="Segoe UI"/>
              </a:defRPr>
            </a:pPr>
            <a:r>
              <a:t>Step 03: Convert</a:t>
            </a:r>
          </a:p>
          <a:p>
            <a:pPr>
              <a:spcBef>
                <a:spcPts val="600"/>
              </a:spcBef>
              <a:defRPr sz="1200">
                <a:solidFill>
                  <a:srgbClr val="BBBBBB"/>
                </a:solidFill>
                <a:latin typeface="Segoe UI"/>
              </a:defRPr>
            </a:pPr>
            <a:r>
              <a:t>OpenVINO IR</a:t>
            </a:r>
            <a:br/>
            <a:r>
              <a:t>INT4 quantization</a:t>
            </a:r>
          </a:p>
        </p:txBody>
      </p:sp>
      <p:sp>
        <p:nvSpPr>
          <p:cNvPr id="21" name="TextBox 20"/>
          <p:cNvSpPr txBox="1"/>
          <p:nvPr/>
        </p:nvSpPr>
        <p:spPr>
          <a:xfrm>
            <a:off x="9006840" y="4754880"/>
            <a:ext cx="274320" cy="457200"/>
          </a:xfrm>
          <a:prstGeom prst="rect">
            <a:avLst/>
          </a:prstGeom>
          <a:noFill/>
        </p:spPr>
        <p:txBody>
          <a:bodyPr wrap="square">
            <a:spAutoFit/>
          </a:bodyPr>
          <a:lstStyle/>
          <a:p>
            <a:pPr algn="l">
              <a:defRPr sz="2200" b="1">
                <a:solidFill>
                  <a:srgbClr val="00C7B7"/>
                </a:solidFill>
                <a:latin typeface="Segoe UI"/>
              </a:defRPr>
            </a:pPr>
            <a:r>
              <a:t>-&gt;</a:t>
            </a:r>
          </a:p>
        </p:txBody>
      </p:sp>
      <p:sp>
        <p:nvSpPr>
          <p:cNvPr id="22" name="Rectangle 21"/>
          <p:cNvSpPr/>
          <p:nvPr/>
        </p:nvSpPr>
        <p:spPr>
          <a:xfrm>
            <a:off x="9235440" y="4297680"/>
            <a:ext cx="2560320" cy="13716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8320" y="4434840"/>
            <a:ext cx="2194560" cy="1097280"/>
          </a:xfrm>
          <a:prstGeom prst="rect">
            <a:avLst/>
          </a:prstGeom>
          <a:noFill/>
        </p:spPr>
        <p:txBody>
          <a:bodyPr wrap="square">
            <a:spAutoFit/>
          </a:bodyPr>
          <a:lstStyle/>
          <a:p>
            <a:pPr>
              <a:defRPr sz="1400" b="1">
                <a:solidFill>
                  <a:srgbClr val="00C7B7"/>
                </a:solidFill>
                <a:latin typeface="Segoe UI"/>
              </a:defRPr>
            </a:pPr>
            <a:r>
              <a:t>Step 04: Deploy</a:t>
            </a:r>
          </a:p>
          <a:p>
            <a:pPr>
              <a:spcBef>
                <a:spcPts val="600"/>
              </a:spcBef>
              <a:defRPr sz="1200">
                <a:solidFill>
                  <a:srgbClr val="BBBBBB"/>
                </a:solidFill>
                <a:latin typeface="Segoe UI"/>
              </a:defRPr>
            </a:pPr>
            <a:r>
              <a:t>NPU inference</a:t>
            </a:r>
            <a:br/>
            <a:r>
              <a:t>via LLMPipeline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System Architecture</a:t>
            </a:r>
          </a:p>
        </p:txBody>
      </p:sp>
      <p:sp>
        <p:nvSpPr>
          <p:cNvPr id="3" name="Rectangle 2"/>
          <p:cNvSpPr/>
          <p:nvPr/>
        </p:nvSpPr>
        <p:spPr>
          <a:xfrm>
            <a:off x="731520" y="1097280"/>
            <a:ext cx="2743200" cy="45720"/>
          </a:xfrm>
          <a:prstGeom prst="rect">
            <a:avLst/>
          </a:prstGeom>
          <a:solidFill>
            <a:srgbClr val="00C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828800" cy="457200"/>
          </a:xfrm>
          <a:prstGeom prst="rect">
            <a:avLst/>
          </a:prstGeom>
          <a:noFill/>
        </p:spPr>
        <p:txBody>
          <a:bodyPr wrap="square">
            <a:spAutoFit/>
          </a:bodyPr>
          <a:lstStyle/>
          <a:p>
            <a:pPr algn="l">
              <a:defRPr sz="2000" b="1">
                <a:solidFill>
                  <a:srgbClr val="00C7B7"/>
                </a:solidFill>
                <a:latin typeface="Segoe UI"/>
              </a:defRPr>
            </a:pPr>
            <a:r>
              <a:t>Clients</a:t>
            </a:r>
          </a:p>
        </p:txBody>
      </p:sp>
      <p:sp>
        <p:nvSpPr>
          <p:cNvPr id="5" name="Rectangle 4"/>
          <p:cNvSpPr/>
          <p:nvPr/>
        </p:nvSpPr>
        <p:spPr>
          <a:xfrm>
            <a:off x="731520" y="1920240"/>
            <a:ext cx="2743200" cy="9144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57400"/>
            <a:ext cx="2377440" cy="640080"/>
          </a:xfrm>
          <a:prstGeom prst="rect">
            <a:avLst/>
          </a:prstGeom>
          <a:noFill/>
        </p:spPr>
        <p:txBody>
          <a:bodyPr wrap="square">
            <a:spAutoFit/>
          </a:bodyPr>
          <a:lstStyle/>
          <a:p>
            <a:pPr>
              <a:defRPr sz="1400" b="1">
                <a:solidFill>
                  <a:srgbClr val="0071C5"/>
                </a:solidFill>
                <a:latin typeface="Segoe UI"/>
              </a:defRPr>
            </a:pPr>
            <a:r>
              <a:t>Gradio Web UI</a:t>
            </a:r>
          </a:p>
          <a:p>
            <a:pPr>
              <a:spcBef>
                <a:spcPts val="600"/>
              </a:spcBef>
              <a:defRPr sz="1200">
                <a:solidFill>
                  <a:srgbClr val="BBBBBB"/>
                </a:solidFill>
                <a:latin typeface="Segoe UI"/>
              </a:defRPr>
            </a:pPr>
            <a:r>
              <a:t>Browser chat interface</a:t>
            </a:r>
          </a:p>
        </p:txBody>
      </p:sp>
      <p:sp>
        <p:nvSpPr>
          <p:cNvPr id="7" name="Rectangle 6"/>
          <p:cNvSpPr/>
          <p:nvPr/>
        </p:nvSpPr>
        <p:spPr>
          <a:xfrm>
            <a:off x="731520" y="2971800"/>
            <a:ext cx="2743200" cy="9144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108960"/>
            <a:ext cx="2377440" cy="640080"/>
          </a:xfrm>
          <a:prstGeom prst="rect">
            <a:avLst/>
          </a:prstGeom>
          <a:noFill/>
        </p:spPr>
        <p:txBody>
          <a:bodyPr wrap="square">
            <a:spAutoFit/>
          </a:bodyPr>
          <a:lstStyle/>
          <a:p>
            <a:pPr>
              <a:defRPr sz="1400" b="1">
                <a:solidFill>
                  <a:srgbClr val="0071C5"/>
                </a:solidFill>
                <a:latin typeface="Segoe UI"/>
              </a:defRPr>
            </a:pPr>
            <a:r>
              <a:t>OpenClaw TUI</a:t>
            </a:r>
          </a:p>
          <a:p>
            <a:pPr>
              <a:spcBef>
                <a:spcPts val="600"/>
              </a:spcBef>
              <a:defRPr sz="1200">
                <a:solidFill>
                  <a:srgbClr val="BBBBBB"/>
                </a:solidFill>
                <a:latin typeface="Segoe UI"/>
              </a:defRPr>
            </a:pPr>
            <a:r>
              <a:t>Terminal AI agent</a:t>
            </a:r>
          </a:p>
        </p:txBody>
      </p:sp>
      <p:sp>
        <p:nvSpPr>
          <p:cNvPr id="9" name="Rectangle 8"/>
          <p:cNvSpPr/>
          <p:nvPr/>
        </p:nvSpPr>
        <p:spPr>
          <a:xfrm>
            <a:off x="731520" y="4023360"/>
            <a:ext cx="2743200" cy="9144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160520"/>
            <a:ext cx="2377440" cy="640080"/>
          </a:xfrm>
          <a:prstGeom prst="rect">
            <a:avLst/>
          </a:prstGeom>
          <a:noFill/>
        </p:spPr>
        <p:txBody>
          <a:bodyPr wrap="square">
            <a:spAutoFit/>
          </a:bodyPr>
          <a:lstStyle/>
          <a:p>
            <a:pPr>
              <a:defRPr sz="1400" b="1">
                <a:solidFill>
                  <a:srgbClr val="0071C5"/>
                </a:solidFill>
                <a:latin typeface="Segoe UI"/>
              </a:defRPr>
            </a:pPr>
            <a:r>
              <a:t>CLI Interactive</a:t>
            </a:r>
          </a:p>
          <a:p>
            <a:pPr>
              <a:spcBef>
                <a:spcPts val="600"/>
              </a:spcBef>
              <a:defRPr sz="1200">
                <a:solidFill>
                  <a:srgbClr val="BBBBBB"/>
                </a:solidFill>
                <a:latin typeface="Segoe UI"/>
              </a:defRPr>
            </a:pPr>
            <a:r>
              <a:t>Direct command line</a:t>
            </a:r>
          </a:p>
        </p:txBody>
      </p:sp>
      <p:sp>
        <p:nvSpPr>
          <p:cNvPr id="11" name="Rectangle 10"/>
          <p:cNvSpPr/>
          <p:nvPr/>
        </p:nvSpPr>
        <p:spPr>
          <a:xfrm>
            <a:off x="731520" y="5074919"/>
            <a:ext cx="2743200" cy="9144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212079"/>
            <a:ext cx="2377440" cy="640080"/>
          </a:xfrm>
          <a:prstGeom prst="rect">
            <a:avLst/>
          </a:prstGeom>
          <a:noFill/>
        </p:spPr>
        <p:txBody>
          <a:bodyPr wrap="square">
            <a:spAutoFit/>
          </a:bodyPr>
          <a:lstStyle/>
          <a:p>
            <a:pPr>
              <a:defRPr sz="1400" b="1">
                <a:solidFill>
                  <a:srgbClr val="0071C5"/>
                </a:solidFill>
                <a:latin typeface="Segoe UI"/>
              </a:defRPr>
            </a:pPr>
            <a:r>
              <a:t>Any OpenAI Client</a:t>
            </a:r>
          </a:p>
          <a:p>
            <a:pPr>
              <a:spcBef>
                <a:spcPts val="600"/>
              </a:spcBef>
              <a:defRPr sz="1200">
                <a:solidFill>
                  <a:srgbClr val="BBBBBB"/>
                </a:solidFill>
                <a:latin typeface="Segoe UI"/>
              </a:defRPr>
            </a:pPr>
            <a:r>
              <a:t>LangChain, curl, etc.</a:t>
            </a:r>
          </a:p>
        </p:txBody>
      </p:sp>
      <p:sp>
        <p:nvSpPr>
          <p:cNvPr id="13" name="TextBox 12"/>
          <p:cNvSpPr txBox="1"/>
          <p:nvPr/>
        </p:nvSpPr>
        <p:spPr>
          <a:xfrm>
            <a:off x="3566160" y="3200400"/>
            <a:ext cx="731520" cy="457200"/>
          </a:xfrm>
          <a:prstGeom prst="rect">
            <a:avLst/>
          </a:prstGeom>
          <a:noFill/>
        </p:spPr>
        <p:txBody>
          <a:bodyPr wrap="square">
            <a:spAutoFit/>
          </a:bodyPr>
          <a:lstStyle/>
          <a:p>
            <a:pPr algn="l">
              <a:defRPr sz="3600" b="1">
                <a:solidFill>
                  <a:srgbClr val="00C7B7"/>
                </a:solidFill>
                <a:latin typeface="Segoe UI"/>
              </a:defRPr>
            </a:pPr>
            <a:r>
              <a:t>-&gt;</a:t>
            </a:r>
          </a:p>
        </p:txBody>
      </p:sp>
      <p:sp>
        <p:nvSpPr>
          <p:cNvPr id="14" name="TextBox 13"/>
          <p:cNvSpPr txBox="1"/>
          <p:nvPr/>
        </p:nvSpPr>
        <p:spPr>
          <a:xfrm>
            <a:off x="4389120" y="1371600"/>
            <a:ext cx="3200400" cy="457200"/>
          </a:xfrm>
          <a:prstGeom prst="rect">
            <a:avLst/>
          </a:prstGeom>
          <a:noFill/>
        </p:spPr>
        <p:txBody>
          <a:bodyPr wrap="square">
            <a:spAutoFit/>
          </a:bodyPr>
          <a:lstStyle/>
          <a:p>
            <a:pPr algn="l">
              <a:defRPr sz="2000" b="1">
                <a:solidFill>
                  <a:srgbClr val="00C7B7"/>
                </a:solidFill>
                <a:latin typeface="Segoe UI"/>
              </a:defRPr>
            </a:pPr>
            <a:r>
              <a:t>API Server (FastAPI)</a:t>
            </a:r>
          </a:p>
        </p:txBody>
      </p:sp>
      <p:sp>
        <p:nvSpPr>
          <p:cNvPr id="15" name="TextBox 14"/>
          <p:cNvSpPr txBox="1"/>
          <p:nvPr/>
        </p:nvSpPr>
        <p:spPr>
          <a:xfrm>
            <a:off x="4389120" y="1920240"/>
            <a:ext cx="3474720" cy="3200400"/>
          </a:xfrm>
          <a:prstGeom prst="rect">
            <a:avLst/>
          </a:prstGeom>
          <a:noFill/>
        </p:spPr>
        <p:txBody>
          <a:bodyPr wrap="square">
            <a:spAutoFit/>
          </a:bodyPr>
          <a:lstStyle/>
          <a:p>
            <a:pPr>
              <a:spcAft>
                <a:spcPts val="800"/>
              </a:spcAft>
              <a:defRPr sz="1400">
                <a:solidFill>
                  <a:srgbClr val="BBBBBB"/>
                </a:solidFill>
                <a:latin typeface="Segoe UI"/>
              </a:defRPr>
            </a:pPr>
            <a:r>
              <a:t>/v1/chat/completions (stream + non-stream)</a:t>
            </a:r>
          </a:p>
          <a:p>
            <a:pPr>
              <a:spcAft>
                <a:spcPts val="800"/>
              </a:spcAft>
              <a:defRPr sz="1400">
                <a:solidFill>
                  <a:srgbClr val="BBBBBB"/>
                </a:solidFill>
                <a:latin typeface="Segoe UI"/>
              </a:defRPr>
            </a:pPr>
            <a:r>
              <a:t>/v1/responses (OpenAI Responses API)</a:t>
            </a:r>
          </a:p>
          <a:p>
            <a:pPr>
              <a:spcAft>
                <a:spcPts val="800"/>
              </a:spcAft>
              <a:defRPr sz="1400">
                <a:solidFill>
                  <a:srgbClr val="BBBBBB"/>
                </a:solidFill>
                <a:latin typeface="Segoe UI"/>
              </a:defRPr>
            </a:pPr>
            <a:r>
              <a:t>/v1/completions (legacy)</a:t>
            </a:r>
          </a:p>
          <a:p>
            <a:pPr>
              <a:spcAft>
                <a:spcPts val="800"/>
              </a:spcAft>
              <a:defRPr sz="1400">
                <a:solidFill>
                  <a:srgbClr val="BBBBBB"/>
                </a:solidFill>
                <a:latin typeface="Segoe UI"/>
              </a:defRPr>
            </a:pPr>
            <a:r>
              <a:t>/v1/models, /health</a:t>
            </a:r>
          </a:p>
        </p:txBody>
      </p:sp>
      <p:sp>
        <p:nvSpPr>
          <p:cNvPr id="16" name="TextBox 15"/>
          <p:cNvSpPr txBox="1"/>
          <p:nvPr/>
        </p:nvSpPr>
        <p:spPr>
          <a:xfrm>
            <a:off x="7955279" y="3200400"/>
            <a:ext cx="731520" cy="457200"/>
          </a:xfrm>
          <a:prstGeom prst="rect">
            <a:avLst/>
          </a:prstGeom>
          <a:noFill/>
        </p:spPr>
        <p:txBody>
          <a:bodyPr wrap="square">
            <a:spAutoFit/>
          </a:bodyPr>
          <a:lstStyle/>
          <a:p>
            <a:pPr algn="l">
              <a:defRPr sz="3600" b="1">
                <a:solidFill>
                  <a:srgbClr val="00C7B7"/>
                </a:solidFill>
                <a:latin typeface="Segoe UI"/>
              </a:defRPr>
            </a:pPr>
            <a:r>
              <a:t>-&gt;</a:t>
            </a:r>
          </a:p>
        </p:txBody>
      </p:sp>
      <p:sp>
        <p:nvSpPr>
          <p:cNvPr id="17" name="TextBox 16"/>
          <p:cNvSpPr txBox="1"/>
          <p:nvPr/>
        </p:nvSpPr>
        <p:spPr>
          <a:xfrm>
            <a:off x="8686800" y="1371600"/>
            <a:ext cx="2743200" cy="457200"/>
          </a:xfrm>
          <a:prstGeom prst="rect">
            <a:avLst/>
          </a:prstGeom>
          <a:noFill/>
        </p:spPr>
        <p:txBody>
          <a:bodyPr wrap="square">
            <a:spAutoFit/>
          </a:bodyPr>
          <a:lstStyle/>
          <a:p>
            <a:pPr algn="l">
              <a:defRPr sz="2000" b="1">
                <a:solidFill>
                  <a:srgbClr val="00C7B7"/>
                </a:solidFill>
                <a:latin typeface="Segoe UI"/>
              </a:defRPr>
            </a:pPr>
            <a:r>
              <a:t>Intel NPU</a:t>
            </a:r>
          </a:p>
        </p:txBody>
      </p:sp>
      <p:sp>
        <p:nvSpPr>
          <p:cNvPr id="18" name="Rectangle 17"/>
          <p:cNvSpPr/>
          <p:nvPr/>
        </p:nvSpPr>
        <p:spPr>
          <a:xfrm>
            <a:off x="8686800" y="1920240"/>
            <a:ext cx="3017520" cy="13716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69680" y="2057400"/>
            <a:ext cx="2651760" cy="1097280"/>
          </a:xfrm>
          <a:prstGeom prst="rect">
            <a:avLst/>
          </a:prstGeom>
          <a:noFill/>
        </p:spPr>
        <p:txBody>
          <a:bodyPr wrap="square">
            <a:spAutoFit/>
          </a:bodyPr>
          <a:lstStyle/>
          <a:p>
            <a:pPr>
              <a:defRPr sz="1400" b="1">
                <a:solidFill>
                  <a:srgbClr val="FF9F00"/>
                </a:solidFill>
                <a:latin typeface="Segoe UI"/>
              </a:defRPr>
            </a:pPr>
            <a:r>
              <a:t>OpenVINO GenAI</a:t>
            </a:r>
          </a:p>
          <a:p>
            <a:pPr>
              <a:spcBef>
                <a:spcPts val="600"/>
              </a:spcBef>
              <a:defRPr sz="1200">
                <a:solidFill>
                  <a:srgbClr val="BBBBBB"/>
                </a:solidFill>
                <a:latin typeface="Segoe UI"/>
              </a:defRPr>
            </a:pPr>
            <a:r>
              <a:t>LLMPipeline</a:t>
            </a:r>
            <a:br/>
            <a:r>
              <a:t>INT4 model</a:t>
            </a:r>
            <a:br/>
            <a:r>
              <a:t>MAX_PROMPT_LEN=8192</a:t>
            </a:r>
          </a:p>
        </p:txBody>
      </p:sp>
      <p:sp>
        <p:nvSpPr>
          <p:cNvPr id="20" name="Rectangle 19"/>
          <p:cNvSpPr/>
          <p:nvPr/>
        </p:nvSpPr>
        <p:spPr>
          <a:xfrm>
            <a:off x="8686800" y="3566160"/>
            <a:ext cx="3017520" cy="13716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69680" y="3703320"/>
            <a:ext cx="2651760" cy="1097280"/>
          </a:xfrm>
          <a:prstGeom prst="rect">
            <a:avLst/>
          </a:prstGeom>
          <a:noFill/>
        </p:spPr>
        <p:txBody>
          <a:bodyPr wrap="square">
            <a:spAutoFit/>
          </a:bodyPr>
          <a:lstStyle/>
          <a:p>
            <a:pPr>
              <a:defRPr sz="1400" b="1">
                <a:solidFill>
                  <a:srgbClr val="00C853"/>
                </a:solidFill>
                <a:latin typeface="Segoe UI"/>
              </a:defRPr>
            </a:pPr>
            <a:r>
              <a:t>47 TOPS NPU</a:t>
            </a:r>
          </a:p>
          <a:p>
            <a:pPr>
              <a:spcBef>
                <a:spcPts val="600"/>
              </a:spcBef>
              <a:defRPr sz="1200">
                <a:solidFill>
                  <a:srgbClr val="BBBBBB"/>
                </a:solidFill>
                <a:latin typeface="Segoe UI"/>
              </a:defRPr>
            </a:pPr>
            <a:r>
              <a:t>Dedicated AI accelerator</a:t>
            </a:r>
            <a:br/>
            <a:r>
              <a:t>Low power inference</a:t>
            </a:r>
            <a:br/>
            <a:r>
              <a:t>Always available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INT4 Quantization for NPU</a:t>
            </a:r>
          </a:p>
        </p:txBody>
      </p:sp>
      <p:sp>
        <p:nvSpPr>
          <p:cNvPr id="3" name="Rectangle 2"/>
          <p:cNvSpPr/>
          <p:nvPr/>
        </p:nvSpPr>
        <p:spPr>
          <a:xfrm>
            <a:off x="731520" y="1097280"/>
            <a:ext cx="2743200" cy="45720"/>
          </a:xfrm>
          <a:prstGeom prst="rect">
            <a:avLst/>
          </a:prstGeom>
          <a:solidFill>
            <a:srgbClr val="00C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463040"/>
            <a:ext cx="5029200" cy="6858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663440" cy="411480"/>
          </a:xfrm>
          <a:prstGeom prst="rect">
            <a:avLst/>
          </a:prstGeom>
          <a:noFill/>
        </p:spPr>
        <p:txBody>
          <a:bodyPr wrap="square">
            <a:spAutoFit/>
          </a:bodyPr>
          <a:lstStyle/>
          <a:p>
            <a:pPr>
              <a:defRPr sz="1400" b="1">
                <a:solidFill>
                  <a:srgbClr val="00C7B7"/>
                </a:solidFill>
                <a:latin typeface="Segoe UI"/>
              </a:defRPr>
            </a:pPr>
            <a:r>
              <a:t>Weight Format</a:t>
            </a:r>
          </a:p>
          <a:p>
            <a:pPr>
              <a:spcBef>
                <a:spcPts val="600"/>
              </a:spcBef>
              <a:defRPr sz="1200">
                <a:solidFill>
                  <a:srgbClr val="BBBBBB"/>
                </a:solidFill>
                <a:latin typeface="Segoe UI"/>
              </a:defRPr>
            </a:pPr>
            <a:r>
              <a:t>INT4 (4-bit integer)</a:t>
            </a:r>
          </a:p>
        </p:txBody>
      </p:sp>
      <p:sp>
        <p:nvSpPr>
          <p:cNvPr id="6" name="Rectangle 5"/>
          <p:cNvSpPr/>
          <p:nvPr/>
        </p:nvSpPr>
        <p:spPr>
          <a:xfrm>
            <a:off x="731520" y="2286000"/>
            <a:ext cx="5029200" cy="6858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423160"/>
            <a:ext cx="4663440" cy="411480"/>
          </a:xfrm>
          <a:prstGeom prst="rect">
            <a:avLst/>
          </a:prstGeom>
          <a:noFill/>
        </p:spPr>
        <p:txBody>
          <a:bodyPr wrap="square">
            <a:spAutoFit/>
          </a:bodyPr>
          <a:lstStyle/>
          <a:p>
            <a:pPr>
              <a:defRPr sz="1400" b="1">
                <a:solidFill>
                  <a:srgbClr val="00C7B7"/>
                </a:solidFill>
                <a:latin typeface="Segoe UI"/>
              </a:defRPr>
            </a:pPr>
            <a:r>
              <a:t>Scheme</a:t>
            </a:r>
          </a:p>
          <a:p>
            <a:pPr>
              <a:spcBef>
                <a:spcPts val="600"/>
              </a:spcBef>
              <a:defRPr sz="1200">
                <a:solidFill>
                  <a:srgbClr val="BBBBBB"/>
                </a:solidFill>
                <a:latin typeface="Segoe UI"/>
              </a:defRPr>
            </a:pPr>
            <a:r>
              <a:t>Symmetric quantization</a:t>
            </a:r>
          </a:p>
        </p:txBody>
      </p:sp>
      <p:sp>
        <p:nvSpPr>
          <p:cNvPr id="8" name="Rectangle 7"/>
          <p:cNvSpPr/>
          <p:nvPr/>
        </p:nvSpPr>
        <p:spPr>
          <a:xfrm>
            <a:off x="731520" y="3108960"/>
            <a:ext cx="5029200" cy="6858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246120"/>
            <a:ext cx="4663440" cy="411480"/>
          </a:xfrm>
          <a:prstGeom prst="rect">
            <a:avLst/>
          </a:prstGeom>
          <a:noFill/>
        </p:spPr>
        <p:txBody>
          <a:bodyPr wrap="square">
            <a:spAutoFit/>
          </a:bodyPr>
          <a:lstStyle/>
          <a:p>
            <a:pPr>
              <a:defRPr sz="1400" b="1">
                <a:solidFill>
                  <a:srgbClr val="00C7B7"/>
                </a:solidFill>
                <a:latin typeface="Segoe UI"/>
              </a:defRPr>
            </a:pPr>
            <a:r>
              <a:t>Ratio</a:t>
            </a:r>
          </a:p>
          <a:p>
            <a:pPr>
              <a:spcBef>
                <a:spcPts val="600"/>
              </a:spcBef>
              <a:defRPr sz="1200">
                <a:solidFill>
                  <a:srgbClr val="BBBBBB"/>
                </a:solidFill>
                <a:latin typeface="Segoe UI"/>
              </a:defRPr>
            </a:pPr>
            <a:r>
              <a:t>1.0 (all layers quantized)</a:t>
            </a:r>
          </a:p>
        </p:txBody>
      </p:sp>
      <p:sp>
        <p:nvSpPr>
          <p:cNvPr id="10" name="Rectangle 9"/>
          <p:cNvSpPr/>
          <p:nvPr/>
        </p:nvSpPr>
        <p:spPr>
          <a:xfrm>
            <a:off x="731520" y="3931920"/>
            <a:ext cx="5029200" cy="6858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069080"/>
            <a:ext cx="4663440" cy="411480"/>
          </a:xfrm>
          <a:prstGeom prst="rect">
            <a:avLst/>
          </a:prstGeom>
          <a:noFill/>
        </p:spPr>
        <p:txBody>
          <a:bodyPr wrap="square">
            <a:spAutoFit/>
          </a:bodyPr>
          <a:lstStyle/>
          <a:p>
            <a:pPr>
              <a:defRPr sz="1400" b="1">
                <a:solidFill>
                  <a:srgbClr val="00C7B7"/>
                </a:solidFill>
                <a:latin typeface="Segoe UI"/>
              </a:defRPr>
            </a:pPr>
            <a:r>
              <a:t>Group Size</a:t>
            </a:r>
          </a:p>
          <a:p>
            <a:pPr>
              <a:spcBef>
                <a:spcPts val="600"/>
              </a:spcBef>
              <a:defRPr sz="1200">
                <a:solidFill>
                  <a:srgbClr val="BBBBBB"/>
                </a:solidFill>
                <a:latin typeface="Segoe UI"/>
              </a:defRPr>
            </a:pPr>
            <a:r>
              <a:t>-1 (channel-wise, best for 7B+)</a:t>
            </a:r>
          </a:p>
        </p:txBody>
      </p:sp>
      <p:sp>
        <p:nvSpPr>
          <p:cNvPr id="12" name="Rectangle 11"/>
          <p:cNvSpPr/>
          <p:nvPr/>
        </p:nvSpPr>
        <p:spPr>
          <a:xfrm>
            <a:off x="731520" y="4754880"/>
            <a:ext cx="5029200" cy="6858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892040"/>
            <a:ext cx="4663440" cy="411480"/>
          </a:xfrm>
          <a:prstGeom prst="rect">
            <a:avLst/>
          </a:prstGeom>
          <a:noFill/>
        </p:spPr>
        <p:txBody>
          <a:bodyPr wrap="square">
            <a:spAutoFit/>
          </a:bodyPr>
          <a:lstStyle/>
          <a:p>
            <a:pPr>
              <a:defRPr sz="1400" b="1">
                <a:solidFill>
                  <a:srgbClr val="00C7B7"/>
                </a:solidFill>
                <a:latin typeface="Segoe UI"/>
              </a:defRPr>
            </a:pPr>
            <a:r>
              <a:t>Tool</a:t>
            </a:r>
          </a:p>
          <a:p>
            <a:pPr>
              <a:spcBef>
                <a:spcPts val="600"/>
              </a:spcBef>
              <a:defRPr sz="1200">
                <a:solidFill>
                  <a:srgbClr val="BBBBBB"/>
                </a:solidFill>
                <a:latin typeface="Segoe UI"/>
              </a:defRPr>
            </a:pPr>
            <a:r>
              <a:t>optimum-cli export openvino</a:t>
            </a:r>
          </a:p>
        </p:txBody>
      </p:sp>
      <p:sp>
        <p:nvSpPr>
          <p:cNvPr id="14" name="Rectangle 13"/>
          <p:cNvSpPr/>
          <p:nvPr/>
        </p:nvSpPr>
        <p:spPr>
          <a:xfrm>
            <a:off x="6400800" y="1463040"/>
            <a:ext cx="5029200" cy="18288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1600200"/>
            <a:ext cx="4663440" cy="1554480"/>
          </a:xfrm>
          <a:prstGeom prst="rect">
            <a:avLst/>
          </a:prstGeom>
          <a:noFill/>
        </p:spPr>
        <p:txBody>
          <a:bodyPr wrap="square">
            <a:spAutoFit/>
          </a:bodyPr>
          <a:lstStyle/>
          <a:p>
            <a:pPr>
              <a:defRPr sz="1400" b="1">
                <a:solidFill>
                  <a:srgbClr val="FF9F00"/>
                </a:solidFill>
                <a:latin typeface="Segoe UI"/>
              </a:defRPr>
            </a:pPr>
            <a:r>
              <a:t>Model Size Comparison</a:t>
            </a:r>
          </a:p>
          <a:p>
            <a:pPr>
              <a:spcBef>
                <a:spcPts val="600"/>
              </a:spcBef>
              <a:defRPr sz="1200">
                <a:solidFill>
                  <a:srgbClr val="BBBBBB"/>
                </a:solidFill>
                <a:latin typeface="Segoe UI"/>
              </a:defRPr>
            </a:pPr>
            <a:r>
              <a:t>FP16 (original):     ~16.0 GB</a:t>
            </a:r>
            <a:br/>
            <a:r>
              <a:t>INT4 (quantized):    ~4.5 GB</a:t>
            </a:r>
            <a:br/>
            <a:r>
              <a:t>Compression ratio:   ~3.5x</a:t>
            </a:r>
            <a:br/>
            <a:r>
              <a:t>Fits in 32 GB RAM with headroom</a:t>
            </a:r>
          </a:p>
        </p:txBody>
      </p:sp>
      <p:sp>
        <p:nvSpPr>
          <p:cNvPr id="16" name="Rectangle 15"/>
          <p:cNvSpPr/>
          <p:nvPr/>
        </p:nvSpPr>
        <p:spPr>
          <a:xfrm>
            <a:off x="6400800" y="3657600"/>
            <a:ext cx="5029200" cy="18288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3794760"/>
            <a:ext cx="4663440" cy="1554480"/>
          </a:xfrm>
          <a:prstGeom prst="rect">
            <a:avLst/>
          </a:prstGeom>
          <a:noFill/>
        </p:spPr>
        <p:txBody>
          <a:bodyPr wrap="square">
            <a:spAutoFit/>
          </a:bodyPr>
          <a:lstStyle/>
          <a:p>
            <a:pPr>
              <a:defRPr sz="1400" b="1">
                <a:solidFill>
                  <a:srgbClr val="00C853"/>
                </a:solidFill>
                <a:latin typeface="Segoe UI"/>
              </a:defRPr>
            </a:pPr>
            <a:r>
              <a:t>Why Symmetric INT4?</a:t>
            </a:r>
          </a:p>
          <a:p>
            <a:pPr>
              <a:spcBef>
                <a:spcPts val="600"/>
              </a:spcBef>
              <a:defRPr sz="1200">
                <a:solidFill>
                  <a:srgbClr val="BBBBBB"/>
                </a:solidFill>
                <a:latin typeface="Segoe UI"/>
              </a:defRPr>
            </a:pPr>
            <a:r>
              <a:t>- Required by Intel NPU hardware</a:t>
            </a:r>
            <a:br/>
            <a:r>
              <a:t>- Symmetric: zero-point = 0, simpler compute</a:t>
            </a:r>
            <a:br/>
            <a:r>
              <a:t>- Channel-wise: better accuracy for large models</a:t>
            </a:r>
            <a:br/>
            <a:r>
              <a:t>- ratio=1.0: quantize all layers for max compression</a:t>
            </a:r>
            <a:br/>
            <a:r>
              <a:t>- Minimal quality loss for financial NLP tasks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600" b="1">
                <a:solidFill>
                  <a:srgbClr val="00C853"/>
                </a:solidFill>
                <a:latin typeface="Segoe UI"/>
              </a:defRPr>
            </a:pPr>
            <a:r>
              <a:t>Test Results - 14/14 Passed</a:t>
            </a:r>
          </a:p>
        </p:txBody>
      </p:sp>
      <p:sp>
        <p:nvSpPr>
          <p:cNvPr id="3" name="Rectangle 2"/>
          <p:cNvSpPr/>
          <p:nvPr/>
        </p:nvSpPr>
        <p:spPr>
          <a:xfrm>
            <a:off x="731520" y="1097280"/>
            <a:ext cx="2743200" cy="457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463040"/>
            <a:ext cx="5303520" cy="100584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937760" cy="731520"/>
          </a:xfrm>
          <a:prstGeom prst="rect">
            <a:avLst/>
          </a:prstGeom>
          <a:noFill/>
        </p:spPr>
        <p:txBody>
          <a:bodyPr wrap="square">
            <a:spAutoFit/>
          </a:bodyPr>
          <a:lstStyle/>
          <a:p>
            <a:pPr>
              <a:defRPr sz="1400" b="1">
                <a:solidFill>
                  <a:srgbClr val="00C853"/>
                </a:solidFill>
                <a:latin typeface="Segoe UI"/>
              </a:defRPr>
            </a:pPr>
            <a:r>
              <a:t>Sentiment Analysis - 3/3</a:t>
            </a:r>
          </a:p>
          <a:p>
            <a:pPr>
              <a:spcBef>
                <a:spcPts val="600"/>
              </a:spcBef>
              <a:defRPr sz="1200">
                <a:solidFill>
                  <a:srgbClr val="BBBBBB"/>
                </a:solidFill>
                <a:latin typeface="Segoe UI"/>
              </a:defRPr>
            </a:pPr>
            <a:r>
              <a:t>Positive, negative, neutral news</a:t>
            </a:r>
          </a:p>
        </p:txBody>
      </p:sp>
      <p:sp>
        <p:nvSpPr>
          <p:cNvPr id="6" name="Rectangle 5"/>
          <p:cNvSpPr/>
          <p:nvPr/>
        </p:nvSpPr>
        <p:spPr>
          <a:xfrm>
            <a:off x="6400800" y="1463040"/>
            <a:ext cx="5303520" cy="100584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600200"/>
            <a:ext cx="4937760" cy="731520"/>
          </a:xfrm>
          <a:prstGeom prst="rect">
            <a:avLst/>
          </a:prstGeom>
          <a:noFill/>
        </p:spPr>
        <p:txBody>
          <a:bodyPr wrap="square">
            <a:spAutoFit/>
          </a:bodyPr>
          <a:lstStyle/>
          <a:p>
            <a:pPr>
              <a:defRPr sz="1400" b="1">
                <a:solidFill>
                  <a:srgbClr val="00C853"/>
                </a:solidFill>
                <a:latin typeface="Segoe UI"/>
              </a:defRPr>
            </a:pPr>
            <a:r>
              <a:t>Financial Knowledge - 3/3</a:t>
            </a:r>
          </a:p>
          <a:p>
            <a:pPr>
              <a:spcBef>
                <a:spcPts val="600"/>
              </a:spcBef>
              <a:defRPr sz="1200">
                <a:solidFill>
                  <a:srgbClr val="BBBBBB"/>
                </a:solidFill>
                <a:latin typeface="Segoe UI"/>
              </a:defRPr>
            </a:pPr>
            <a:r>
              <a:t>P/E ratio, markets, diversification</a:t>
            </a:r>
          </a:p>
        </p:txBody>
      </p:sp>
      <p:sp>
        <p:nvSpPr>
          <p:cNvPr id="8" name="Rectangle 7"/>
          <p:cNvSpPr/>
          <p:nvPr/>
        </p:nvSpPr>
        <p:spPr>
          <a:xfrm>
            <a:off x="731520" y="2651760"/>
            <a:ext cx="5303520" cy="100584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788920"/>
            <a:ext cx="4937760" cy="731520"/>
          </a:xfrm>
          <a:prstGeom prst="rect">
            <a:avLst/>
          </a:prstGeom>
          <a:noFill/>
        </p:spPr>
        <p:txBody>
          <a:bodyPr wrap="square">
            <a:spAutoFit/>
          </a:bodyPr>
          <a:lstStyle/>
          <a:p>
            <a:pPr>
              <a:defRPr sz="1400" b="1">
                <a:solidFill>
                  <a:srgbClr val="00C853"/>
                </a:solidFill>
                <a:latin typeface="Segoe UI"/>
              </a:defRPr>
            </a:pPr>
            <a:r>
              <a:t>Market Analysis - 2/2</a:t>
            </a:r>
          </a:p>
          <a:p>
            <a:pPr>
              <a:spcBef>
                <a:spcPts val="600"/>
              </a:spcBef>
              <a:defRPr sz="1200">
                <a:solidFill>
                  <a:srgbClr val="BBBBBB"/>
                </a:solidFill>
                <a:latin typeface="Segoe UI"/>
              </a:defRPr>
            </a:pPr>
            <a:r>
              <a:t>Revenue analysis, recession indicators</a:t>
            </a:r>
          </a:p>
        </p:txBody>
      </p:sp>
      <p:sp>
        <p:nvSpPr>
          <p:cNvPr id="10" name="Rectangle 9"/>
          <p:cNvSpPr/>
          <p:nvPr/>
        </p:nvSpPr>
        <p:spPr>
          <a:xfrm>
            <a:off x="6400800" y="2651760"/>
            <a:ext cx="5303520" cy="100584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2788920"/>
            <a:ext cx="4937760" cy="731520"/>
          </a:xfrm>
          <a:prstGeom prst="rect">
            <a:avLst/>
          </a:prstGeom>
          <a:noFill/>
        </p:spPr>
        <p:txBody>
          <a:bodyPr wrap="square">
            <a:spAutoFit/>
          </a:bodyPr>
          <a:lstStyle/>
          <a:p>
            <a:pPr>
              <a:defRPr sz="1400" b="1">
                <a:solidFill>
                  <a:srgbClr val="00C853"/>
                </a:solidFill>
                <a:latin typeface="Segoe UI"/>
              </a:defRPr>
            </a:pPr>
            <a:r>
              <a:t>Text Processing - 2/2</a:t>
            </a:r>
          </a:p>
          <a:p>
            <a:pPr>
              <a:spcBef>
                <a:spcPts val="600"/>
              </a:spcBef>
              <a:defRPr sz="1200">
                <a:solidFill>
                  <a:srgbClr val="BBBBBB"/>
                </a:solidFill>
                <a:latin typeface="Segoe UI"/>
              </a:defRPr>
            </a:pPr>
            <a:r>
              <a:t>Earnings summary, metric extraction</a:t>
            </a:r>
          </a:p>
        </p:txBody>
      </p:sp>
      <p:sp>
        <p:nvSpPr>
          <p:cNvPr id="12" name="Rectangle 11"/>
          <p:cNvSpPr/>
          <p:nvPr/>
        </p:nvSpPr>
        <p:spPr>
          <a:xfrm>
            <a:off x="731520" y="3840480"/>
            <a:ext cx="5303520" cy="100584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77640"/>
            <a:ext cx="4937760" cy="731520"/>
          </a:xfrm>
          <a:prstGeom prst="rect">
            <a:avLst/>
          </a:prstGeom>
          <a:noFill/>
        </p:spPr>
        <p:txBody>
          <a:bodyPr wrap="square">
            <a:spAutoFit/>
          </a:bodyPr>
          <a:lstStyle/>
          <a:p>
            <a:pPr>
              <a:defRPr sz="1400" b="1">
                <a:solidFill>
                  <a:srgbClr val="00C853"/>
                </a:solidFill>
                <a:latin typeface="Segoe UI"/>
              </a:defRPr>
            </a:pPr>
            <a:r>
              <a:t>Risk Assessment - 1/1</a:t>
            </a:r>
          </a:p>
          <a:p>
            <a:pPr>
              <a:spcBef>
                <a:spcPts val="600"/>
              </a:spcBef>
              <a:defRPr sz="1200">
                <a:solidFill>
                  <a:srgbClr val="BBBBBB"/>
                </a:solidFill>
                <a:latin typeface="Segoe UI"/>
              </a:defRPr>
            </a:pPr>
            <a:r>
              <a:t>Concentration risk awareness</a:t>
            </a:r>
          </a:p>
        </p:txBody>
      </p:sp>
      <p:sp>
        <p:nvSpPr>
          <p:cNvPr id="14" name="Rectangle 13"/>
          <p:cNvSpPr/>
          <p:nvPr/>
        </p:nvSpPr>
        <p:spPr>
          <a:xfrm>
            <a:off x="6400800" y="3840480"/>
            <a:ext cx="5303520" cy="100584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3977640"/>
            <a:ext cx="4937760" cy="731520"/>
          </a:xfrm>
          <a:prstGeom prst="rect">
            <a:avLst/>
          </a:prstGeom>
          <a:noFill/>
        </p:spPr>
        <p:txBody>
          <a:bodyPr wrap="square">
            <a:spAutoFit/>
          </a:bodyPr>
          <a:lstStyle/>
          <a:p>
            <a:pPr>
              <a:defRPr sz="1400" b="1">
                <a:solidFill>
                  <a:srgbClr val="00C853"/>
                </a:solidFill>
                <a:latin typeface="Segoe UI"/>
              </a:defRPr>
            </a:pPr>
            <a:r>
              <a:t>Domain Boundary - 1/1</a:t>
            </a:r>
          </a:p>
          <a:p>
            <a:pPr>
              <a:spcBef>
                <a:spcPts val="600"/>
              </a:spcBef>
              <a:defRPr sz="1200">
                <a:solidFill>
                  <a:srgbClr val="BBBBBB"/>
                </a:solidFill>
                <a:latin typeface="Segoe UI"/>
              </a:defRPr>
            </a:pPr>
            <a:r>
              <a:t>Non-financial request handling</a:t>
            </a:r>
          </a:p>
        </p:txBody>
      </p:sp>
      <p:sp>
        <p:nvSpPr>
          <p:cNvPr id="16" name="Rectangle 15"/>
          <p:cNvSpPr/>
          <p:nvPr/>
        </p:nvSpPr>
        <p:spPr>
          <a:xfrm>
            <a:off x="731520" y="5029200"/>
            <a:ext cx="5303520" cy="100584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166360"/>
            <a:ext cx="4937760" cy="731520"/>
          </a:xfrm>
          <a:prstGeom prst="rect">
            <a:avLst/>
          </a:prstGeom>
          <a:noFill/>
        </p:spPr>
        <p:txBody>
          <a:bodyPr wrap="square">
            <a:spAutoFit/>
          </a:bodyPr>
          <a:lstStyle/>
          <a:p>
            <a:pPr>
              <a:defRPr sz="1400" b="1">
                <a:solidFill>
                  <a:srgbClr val="00C853"/>
                </a:solidFill>
                <a:latin typeface="Segoe UI"/>
              </a:defRPr>
            </a:pPr>
            <a:r>
              <a:t>Streaming (SSE) - 1/1</a:t>
            </a:r>
          </a:p>
          <a:p>
            <a:pPr>
              <a:spcBef>
                <a:spcPts val="600"/>
              </a:spcBef>
              <a:defRPr sz="1200">
                <a:solidFill>
                  <a:srgbClr val="BBBBBB"/>
                </a:solidFill>
                <a:latin typeface="Segoe UI"/>
              </a:defRPr>
            </a:pPr>
            <a:r>
              <a:t>Real-time token delivery</a:t>
            </a:r>
          </a:p>
        </p:txBody>
      </p:sp>
      <p:sp>
        <p:nvSpPr>
          <p:cNvPr id="18" name="Rectangle 17"/>
          <p:cNvSpPr/>
          <p:nvPr/>
        </p:nvSpPr>
        <p:spPr>
          <a:xfrm>
            <a:off x="6400800" y="5029200"/>
            <a:ext cx="5303520" cy="100584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5166360"/>
            <a:ext cx="4937760" cy="731520"/>
          </a:xfrm>
          <a:prstGeom prst="rect">
            <a:avLst/>
          </a:prstGeom>
          <a:noFill/>
        </p:spPr>
        <p:txBody>
          <a:bodyPr wrap="square">
            <a:spAutoFit/>
          </a:bodyPr>
          <a:lstStyle/>
          <a:p>
            <a:pPr>
              <a:defRPr sz="1400" b="1">
                <a:solidFill>
                  <a:srgbClr val="00C853"/>
                </a:solidFill>
                <a:latin typeface="Segoe UI"/>
              </a:defRPr>
            </a:pPr>
            <a:r>
              <a:t>Responses API - 1/1</a:t>
            </a:r>
          </a:p>
          <a:p>
            <a:pPr>
              <a:spcBef>
                <a:spcPts val="600"/>
              </a:spcBef>
              <a:defRPr sz="1200">
                <a:solidFill>
                  <a:srgbClr val="BBBBBB"/>
                </a:solidFill>
                <a:latin typeface="Segoe UI"/>
              </a:defRPr>
            </a:pPr>
            <a:r>
              <a:t>/v1/responses endpoint</a:t>
            </a:r>
          </a:p>
        </p:txBody>
      </p:sp>
      <p:sp>
        <p:nvSpPr>
          <p:cNvPr id="20" name="Rectangle 19"/>
          <p:cNvSpPr/>
          <p:nvPr/>
        </p:nvSpPr>
        <p:spPr>
          <a:xfrm>
            <a:off x="731520" y="5486400"/>
            <a:ext cx="10698480" cy="82296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623560"/>
            <a:ext cx="10332720" cy="548640"/>
          </a:xfrm>
          <a:prstGeom prst="rect">
            <a:avLst/>
          </a:prstGeom>
          <a:noFill/>
        </p:spPr>
        <p:txBody>
          <a:bodyPr wrap="square">
            <a:spAutoFit/>
          </a:bodyPr>
          <a:lstStyle/>
          <a:p>
            <a:pPr>
              <a:defRPr sz="1400" b="1">
                <a:solidFill>
                  <a:srgbClr val="00C7B7"/>
                </a:solidFill>
                <a:latin typeface="Segoe UI"/>
              </a:defRPr>
            </a:pPr>
            <a:r>
              <a:t>Performance Summary</a:t>
            </a:r>
          </a:p>
          <a:p>
            <a:pPr>
              <a:spcBef>
                <a:spcPts val="600"/>
              </a:spcBef>
              <a:defRPr sz="1200">
                <a:solidFill>
                  <a:srgbClr val="BBBBBB"/>
                </a:solidFill>
                <a:latin typeface="Segoe UI"/>
              </a:defRPr>
            </a:pPr>
            <a:r>
              <a:t>Average response time: 22.5s on NPU  |  All endpoints functional  |  Keyword matching validates financial accuracy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Live Demo - Financial News Analysis</a:t>
            </a:r>
          </a:p>
        </p:txBody>
      </p:sp>
      <p:sp>
        <p:nvSpPr>
          <p:cNvPr id="3" name="Rectangle 2"/>
          <p:cNvSpPr/>
          <p:nvPr/>
        </p:nvSpPr>
        <p:spPr>
          <a:xfrm>
            <a:off x="731520" y="1097280"/>
            <a:ext cx="2743200" cy="45720"/>
          </a:xfrm>
          <a:prstGeom prst="rect">
            <a:avLst/>
          </a:prstGeom>
          <a:solidFill>
            <a:srgbClr val="00C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463040"/>
            <a:ext cx="10698480" cy="109728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10332720" cy="822960"/>
          </a:xfrm>
          <a:prstGeom prst="rect">
            <a:avLst/>
          </a:prstGeom>
          <a:noFill/>
        </p:spPr>
        <p:txBody>
          <a:bodyPr wrap="square">
            <a:spAutoFit/>
          </a:bodyPr>
          <a:lstStyle/>
          <a:p>
            <a:pPr>
              <a:defRPr sz="1400" b="1">
                <a:solidFill>
                  <a:srgbClr val="0071C5"/>
                </a:solidFill>
                <a:latin typeface="Segoe UI"/>
              </a:defRPr>
            </a:pPr>
            <a:r>
              <a:t>Input News</a:t>
            </a:r>
          </a:p>
          <a:p>
            <a:pPr>
              <a:spcBef>
                <a:spcPts val="600"/>
              </a:spcBef>
              <a:defRPr sz="1200">
                <a:solidFill>
                  <a:srgbClr val="BBBBBB"/>
                </a:solidFill>
                <a:latin typeface="Segoe UI"/>
              </a:defRPr>
            </a:pPr>
            <a:r>
              <a:t>"White House update on tax refunds: Average check tops $3,700 as US taxpayers claim Trump's 'historic' cuts. What to do."</a:t>
            </a:r>
          </a:p>
        </p:txBody>
      </p:sp>
      <p:sp>
        <p:nvSpPr>
          <p:cNvPr id="6" name="Rectangle 5"/>
          <p:cNvSpPr/>
          <p:nvPr/>
        </p:nvSpPr>
        <p:spPr>
          <a:xfrm>
            <a:off x="731520" y="2834640"/>
            <a:ext cx="3383280" cy="32004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971800"/>
            <a:ext cx="3017520" cy="2926080"/>
          </a:xfrm>
          <a:prstGeom prst="rect">
            <a:avLst/>
          </a:prstGeom>
          <a:noFill/>
        </p:spPr>
        <p:txBody>
          <a:bodyPr wrap="square">
            <a:spAutoFit/>
          </a:bodyPr>
          <a:lstStyle/>
          <a:p>
            <a:pPr>
              <a:defRPr sz="1400" b="1">
                <a:solidFill>
                  <a:srgbClr val="00C853"/>
                </a:solidFill>
                <a:latin typeface="Segoe UI"/>
              </a:defRPr>
            </a:pPr>
            <a:r>
              <a:t>Sentiment Analysis</a:t>
            </a:r>
          </a:p>
          <a:p>
            <a:pPr>
              <a:spcBef>
                <a:spcPts val="600"/>
              </a:spcBef>
              <a:defRPr sz="1200">
                <a:solidFill>
                  <a:srgbClr val="BBBBBB"/>
                </a:solidFill>
                <a:latin typeface="Segoe UI"/>
              </a:defRPr>
            </a:pPr>
            <a:r>
              <a:t>Neutral to Positive</a:t>
            </a:r>
            <a:br/>
            <a:br/>
            <a:r>
              <a:t>"Historic cuts" and higher</a:t>
            </a:r>
            <a:br/>
            <a:r>
              <a:t>average refunds signal</a:t>
            </a:r>
            <a:br/>
            <a:r>
              <a:t>positive consumer outlook</a:t>
            </a:r>
          </a:p>
        </p:txBody>
      </p:sp>
      <p:sp>
        <p:nvSpPr>
          <p:cNvPr id="8" name="Rectangle 7"/>
          <p:cNvSpPr/>
          <p:nvPr/>
        </p:nvSpPr>
        <p:spPr>
          <a:xfrm>
            <a:off x="4389120" y="2834640"/>
            <a:ext cx="3383280" cy="32004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971800"/>
            <a:ext cx="3017520" cy="2926080"/>
          </a:xfrm>
          <a:prstGeom prst="rect">
            <a:avLst/>
          </a:prstGeom>
          <a:noFill/>
        </p:spPr>
        <p:txBody>
          <a:bodyPr wrap="square">
            <a:spAutoFit/>
          </a:bodyPr>
          <a:lstStyle/>
          <a:p>
            <a:pPr>
              <a:defRPr sz="1400" b="1">
                <a:solidFill>
                  <a:srgbClr val="FF9F00"/>
                </a:solidFill>
                <a:latin typeface="Segoe UI"/>
              </a:defRPr>
            </a:pPr>
            <a:r>
              <a:t>Market Impact</a:t>
            </a:r>
          </a:p>
          <a:p>
            <a:pPr>
              <a:spcBef>
                <a:spcPts val="600"/>
              </a:spcBef>
              <a:defRPr sz="1200">
                <a:solidFill>
                  <a:srgbClr val="BBBBBB"/>
                </a:solidFill>
                <a:latin typeface="Segoe UI"/>
              </a:defRPr>
            </a:pPr>
            <a:r>
              <a:t>Higher disposable income</a:t>
            </a:r>
            <a:br/>
            <a:r>
              <a:t>($3,700 avg refund) could</a:t>
            </a:r>
            <a:br/>
            <a:r>
              <a:t>boost consumer spending</a:t>
            </a:r>
            <a:br/>
            <a:r>
              <a:t>and economic activity</a:t>
            </a:r>
          </a:p>
        </p:txBody>
      </p:sp>
      <p:sp>
        <p:nvSpPr>
          <p:cNvPr id="10" name="Rectangle 9"/>
          <p:cNvSpPr/>
          <p:nvPr/>
        </p:nvSpPr>
        <p:spPr>
          <a:xfrm>
            <a:off x="8046720" y="2834640"/>
            <a:ext cx="3383280" cy="32004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971800"/>
            <a:ext cx="3017520" cy="2926080"/>
          </a:xfrm>
          <a:prstGeom prst="rect">
            <a:avLst/>
          </a:prstGeom>
          <a:noFill/>
        </p:spPr>
        <p:txBody>
          <a:bodyPr wrap="square">
            <a:spAutoFit/>
          </a:bodyPr>
          <a:lstStyle/>
          <a:p>
            <a:pPr>
              <a:defRPr sz="1400" b="1">
                <a:solidFill>
                  <a:srgbClr val="00C7B7"/>
                </a:solidFill>
                <a:latin typeface="Segoe UI"/>
              </a:defRPr>
            </a:pPr>
            <a:r>
              <a:t>Investment Recommendations</a:t>
            </a:r>
          </a:p>
          <a:p>
            <a:pPr>
              <a:spcBef>
                <a:spcPts val="600"/>
              </a:spcBef>
              <a:defRPr sz="1200">
                <a:solidFill>
                  <a:srgbClr val="BBBBBB"/>
                </a:solidFill>
                <a:latin typeface="Segoe UI"/>
              </a:defRPr>
            </a:pPr>
            <a:r>
              <a:t>1. Consumer staples</a:t>
            </a:r>
            <a:br/>
            <a:r>
              <a:t>2. Retail &amp; e-commerce</a:t>
            </a:r>
            <a:br/>
            <a:r>
              <a:t>3. Financial institutions</a:t>
            </a:r>
            <a:br/>
            <a:r>
              <a:t>4. Consumer discretionary</a:t>
            </a:r>
            <a:br/>
            <a:br/>
            <a:r>
              <a:t>Risks: interest rates, inflation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Deployment Options</a:t>
            </a:r>
          </a:p>
        </p:txBody>
      </p:sp>
      <p:sp>
        <p:nvSpPr>
          <p:cNvPr id="3" name="Rectangle 2"/>
          <p:cNvSpPr/>
          <p:nvPr/>
        </p:nvSpPr>
        <p:spPr>
          <a:xfrm>
            <a:off x="731520" y="1097280"/>
            <a:ext cx="2743200" cy="45720"/>
          </a:xfrm>
          <a:prstGeom prst="rect">
            <a:avLst/>
          </a:prstGeom>
          <a:solidFill>
            <a:srgbClr val="00C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463040"/>
            <a:ext cx="3474720" cy="219456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108960" cy="1920240"/>
          </a:xfrm>
          <a:prstGeom prst="rect">
            <a:avLst/>
          </a:prstGeom>
          <a:noFill/>
        </p:spPr>
        <p:txBody>
          <a:bodyPr wrap="square">
            <a:spAutoFit/>
          </a:bodyPr>
          <a:lstStyle/>
          <a:p>
            <a:pPr>
              <a:defRPr sz="1400" b="1">
                <a:solidFill>
                  <a:srgbClr val="00C853"/>
                </a:solidFill>
                <a:latin typeface="Segoe UI"/>
              </a:defRPr>
            </a:pPr>
            <a:r>
              <a:t>CLI Interactive</a:t>
            </a:r>
          </a:p>
          <a:p>
            <a:pPr>
              <a:spcBef>
                <a:spcPts val="600"/>
              </a:spcBef>
              <a:defRPr sz="1200">
                <a:solidFill>
                  <a:srgbClr val="BBBBBB"/>
                </a:solidFill>
                <a:latin typeface="Segoe UI"/>
              </a:defRPr>
            </a:pPr>
            <a:r>
              <a:t>Direct terminal chat</a:t>
            </a:r>
            <a:br/>
            <a:r>
              <a:t>python scripts/04_run_inference.py</a:t>
            </a:r>
            <a:br/>
            <a:br/>
            <a:r>
              <a:t>Status: Available</a:t>
            </a:r>
          </a:p>
        </p:txBody>
      </p:sp>
      <p:sp>
        <p:nvSpPr>
          <p:cNvPr id="6" name="Rectangle 5"/>
          <p:cNvSpPr/>
          <p:nvPr/>
        </p:nvSpPr>
        <p:spPr>
          <a:xfrm>
            <a:off x="4480559" y="1463040"/>
            <a:ext cx="3474720" cy="219456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63439" y="1600200"/>
            <a:ext cx="3108960" cy="1920240"/>
          </a:xfrm>
          <a:prstGeom prst="rect">
            <a:avLst/>
          </a:prstGeom>
          <a:noFill/>
        </p:spPr>
        <p:txBody>
          <a:bodyPr wrap="square">
            <a:spAutoFit/>
          </a:bodyPr>
          <a:lstStyle/>
          <a:p>
            <a:pPr>
              <a:defRPr sz="1400" b="1">
                <a:solidFill>
                  <a:srgbClr val="00C853"/>
                </a:solidFill>
                <a:latin typeface="Segoe UI"/>
              </a:defRPr>
            </a:pPr>
            <a:r>
              <a:t>Gradio Web UI</a:t>
            </a:r>
          </a:p>
          <a:p>
            <a:pPr>
              <a:spcBef>
                <a:spcPts val="600"/>
              </a:spcBef>
              <a:defRPr sz="1200">
                <a:solidFill>
                  <a:srgbClr val="BBBBBB"/>
                </a:solidFill>
                <a:latin typeface="Segoe UI"/>
              </a:defRPr>
            </a:pPr>
            <a:r>
              <a:t>Browser-based chat interface</a:t>
            </a:r>
            <a:br/>
            <a:r>
              <a:t>python app.py</a:t>
            </a:r>
            <a:br/>
            <a:br/>
            <a:r>
              <a:t>Status: Available</a:t>
            </a:r>
          </a:p>
        </p:txBody>
      </p:sp>
      <p:sp>
        <p:nvSpPr>
          <p:cNvPr id="8" name="Rectangle 7"/>
          <p:cNvSpPr/>
          <p:nvPr/>
        </p:nvSpPr>
        <p:spPr>
          <a:xfrm>
            <a:off x="8229599" y="1463040"/>
            <a:ext cx="3474720" cy="219456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9" y="1600200"/>
            <a:ext cx="3108960" cy="1920240"/>
          </a:xfrm>
          <a:prstGeom prst="rect">
            <a:avLst/>
          </a:prstGeom>
          <a:noFill/>
        </p:spPr>
        <p:txBody>
          <a:bodyPr wrap="square">
            <a:spAutoFit/>
          </a:bodyPr>
          <a:lstStyle/>
          <a:p>
            <a:pPr>
              <a:defRPr sz="1400" b="1">
                <a:solidFill>
                  <a:srgbClr val="00C853"/>
                </a:solidFill>
                <a:latin typeface="Segoe UI"/>
              </a:defRPr>
            </a:pPr>
            <a:r>
              <a:t>API Server</a:t>
            </a:r>
          </a:p>
          <a:p>
            <a:pPr>
              <a:spcBef>
                <a:spcPts val="600"/>
              </a:spcBef>
              <a:defRPr sz="1200">
                <a:solidFill>
                  <a:srgbClr val="BBBBBB"/>
                </a:solidFill>
                <a:latin typeface="Segoe UI"/>
              </a:defRPr>
            </a:pPr>
            <a:r>
              <a:t>OpenAI-compatible endpoints</a:t>
            </a:r>
            <a:br/>
            <a:r>
              <a:t>python server.py</a:t>
            </a:r>
            <a:br/>
            <a:br/>
            <a:r>
              <a:t>Status: Available</a:t>
            </a:r>
          </a:p>
        </p:txBody>
      </p:sp>
      <p:sp>
        <p:nvSpPr>
          <p:cNvPr id="10" name="Rectangle 9"/>
          <p:cNvSpPr/>
          <p:nvPr/>
        </p:nvSpPr>
        <p:spPr>
          <a:xfrm>
            <a:off x="731520" y="4023360"/>
            <a:ext cx="3474720" cy="219456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60520"/>
            <a:ext cx="3108960" cy="1920240"/>
          </a:xfrm>
          <a:prstGeom prst="rect">
            <a:avLst/>
          </a:prstGeom>
          <a:noFill/>
        </p:spPr>
        <p:txBody>
          <a:bodyPr wrap="square">
            <a:spAutoFit/>
          </a:bodyPr>
          <a:lstStyle/>
          <a:p>
            <a:pPr>
              <a:defRPr sz="1400" b="1">
                <a:solidFill>
                  <a:srgbClr val="00C853"/>
                </a:solidFill>
                <a:latin typeface="Segoe UI"/>
              </a:defRPr>
            </a:pPr>
            <a:r>
              <a:t>OpenClaw TUI</a:t>
            </a:r>
          </a:p>
          <a:p>
            <a:pPr>
              <a:spcBef>
                <a:spcPts val="600"/>
              </a:spcBef>
              <a:defRPr sz="1200">
                <a:solidFill>
                  <a:srgbClr val="BBBBBB"/>
                </a:solidFill>
                <a:latin typeface="Segoe UI"/>
              </a:defRPr>
            </a:pPr>
            <a:r>
              <a:t>AI Agent platform</a:t>
            </a:r>
            <a:br/>
            <a:r>
              <a:t>Streaming SSE support</a:t>
            </a:r>
            <a:br/>
            <a:br/>
            <a:r>
              <a:t>Status: Available</a:t>
            </a:r>
          </a:p>
        </p:txBody>
      </p:sp>
      <p:sp>
        <p:nvSpPr>
          <p:cNvPr id="12" name="Rectangle 11"/>
          <p:cNvSpPr/>
          <p:nvPr/>
        </p:nvSpPr>
        <p:spPr>
          <a:xfrm>
            <a:off x="4480559" y="4023360"/>
            <a:ext cx="3474720" cy="219456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39" y="4160520"/>
            <a:ext cx="3108960" cy="1920240"/>
          </a:xfrm>
          <a:prstGeom prst="rect">
            <a:avLst/>
          </a:prstGeom>
          <a:noFill/>
        </p:spPr>
        <p:txBody>
          <a:bodyPr wrap="square">
            <a:spAutoFit/>
          </a:bodyPr>
          <a:lstStyle/>
          <a:p>
            <a:pPr>
              <a:defRPr sz="1400" b="1">
                <a:solidFill>
                  <a:srgbClr val="FF9F00"/>
                </a:solidFill>
                <a:latin typeface="Segoe UI"/>
              </a:defRPr>
            </a:pPr>
            <a:r>
              <a:t>Telegram Bot</a:t>
            </a:r>
          </a:p>
          <a:p>
            <a:pPr>
              <a:spcBef>
                <a:spcPts val="600"/>
              </a:spcBef>
              <a:defRPr sz="1200">
                <a:solidFill>
                  <a:srgbClr val="BBBBBB"/>
                </a:solidFill>
                <a:latin typeface="Segoe UI"/>
              </a:defRPr>
            </a:pPr>
            <a:r>
              <a:t>Mobile chat integration</a:t>
            </a:r>
            <a:br/>
            <a:r>
              <a:t>Connects to API server</a:t>
            </a:r>
            <a:br/>
            <a:br/>
            <a:r>
              <a:t>Status: Ready</a:t>
            </a:r>
          </a:p>
        </p:txBody>
      </p:sp>
      <p:sp>
        <p:nvSpPr>
          <p:cNvPr id="14" name="Rectangle 13"/>
          <p:cNvSpPr/>
          <p:nvPr/>
        </p:nvSpPr>
        <p:spPr>
          <a:xfrm>
            <a:off x="8229599" y="4023360"/>
            <a:ext cx="3474720" cy="219456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79" y="4160520"/>
            <a:ext cx="3108960" cy="1920240"/>
          </a:xfrm>
          <a:prstGeom prst="rect">
            <a:avLst/>
          </a:prstGeom>
          <a:noFill/>
        </p:spPr>
        <p:txBody>
          <a:bodyPr wrap="square">
            <a:spAutoFit/>
          </a:bodyPr>
          <a:lstStyle/>
          <a:p>
            <a:pPr>
              <a:defRPr sz="1400" b="1">
                <a:solidFill>
                  <a:srgbClr val="FF9F00"/>
                </a:solidFill>
                <a:latin typeface="Segoe UI"/>
              </a:defRPr>
            </a:pPr>
            <a:r>
              <a:t>Discord / Slack</a:t>
            </a:r>
          </a:p>
          <a:p>
            <a:pPr>
              <a:spcBef>
                <a:spcPts val="600"/>
              </a:spcBef>
              <a:defRPr sz="1200">
                <a:solidFill>
                  <a:srgbClr val="BBBBBB"/>
                </a:solidFill>
                <a:latin typeface="Segoe UI"/>
              </a:defRPr>
            </a:pPr>
            <a:r>
              <a:t>Community &amp; team integration</a:t>
            </a:r>
            <a:br/>
            <a:r>
              <a:t>Via OpenAI-compatible API</a:t>
            </a:r>
            <a:br/>
            <a:br/>
            <a:r>
              <a:t>Status: Ready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Conclusion &amp; Future Work</a:t>
            </a:r>
          </a:p>
        </p:txBody>
      </p:sp>
      <p:sp>
        <p:nvSpPr>
          <p:cNvPr id="3" name="Rectangle 2"/>
          <p:cNvSpPr/>
          <p:nvPr/>
        </p:nvSpPr>
        <p:spPr>
          <a:xfrm>
            <a:off x="731520" y="1097280"/>
            <a:ext cx="2743200" cy="45720"/>
          </a:xfrm>
          <a:prstGeom prst="rect">
            <a:avLst/>
          </a:prstGeom>
          <a:solidFill>
            <a:srgbClr val="00C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463040"/>
            <a:ext cx="5029200" cy="22860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663440" cy="2011680"/>
          </a:xfrm>
          <a:prstGeom prst="rect">
            <a:avLst/>
          </a:prstGeom>
          <a:noFill/>
        </p:spPr>
        <p:txBody>
          <a:bodyPr wrap="square">
            <a:spAutoFit/>
          </a:bodyPr>
          <a:lstStyle/>
          <a:p>
            <a:pPr>
              <a:defRPr sz="1400" b="1">
                <a:solidFill>
                  <a:srgbClr val="00C853"/>
                </a:solidFill>
                <a:latin typeface="Segoe UI"/>
              </a:defRPr>
            </a:pPr>
            <a:r>
              <a:t>What We Achieved</a:t>
            </a:r>
          </a:p>
          <a:p>
            <a:pPr>
              <a:spcBef>
                <a:spcPts val="600"/>
              </a:spcBef>
              <a:defRPr sz="1200">
                <a:solidFill>
                  <a:srgbClr val="BBBBBB"/>
                </a:solidFill>
                <a:latin typeface="Segoe UI"/>
              </a:defRPr>
            </a:pPr>
            <a:r>
              <a:t>- End-to-end FinGPT deployment on Intel NPU</a:t>
            </a:r>
            <a:br/>
            <a:r>
              <a:t>- INT4 quantization: 16 GB -&gt; 4.5 GB (3.5x)</a:t>
            </a:r>
            <a:br/>
            <a:r>
              <a:t>- OpenAI-compatible API server with streaming</a:t>
            </a:r>
            <a:br/>
            <a:r>
              <a:t>- 14/14 automated tests passing</a:t>
            </a:r>
            <a:br/>
            <a:r>
              <a:t>- Multiple interfaces (CLI, Web, API, TUI)</a:t>
            </a:r>
            <a:br/>
            <a:r>
              <a:t>- Real-time financial news analysis</a:t>
            </a:r>
          </a:p>
        </p:txBody>
      </p:sp>
      <p:sp>
        <p:nvSpPr>
          <p:cNvPr id="6" name="Rectangle 5"/>
          <p:cNvSpPr/>
          <p:nvPr/>
        </p:nvSpPr>
        <p:spPr>
          <a:xfrm>
            <a:off x="6400800" y="1463040"/>
            <a:ext cx="5029200" cy="22860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600200"/>
            <a:ext cx="4663440" cy="2011680"/>
          </a:xfrm>
          <a:prstGeom prst="rect">
            <a:avLst/>
          </a:prstGeom>
          <a:noFill/>
        </p:spPr>
        <p:txBody>
          <a:bodyPr wrap="square">
            <a:spAutoFit/>
          </a:bodyPr>
          <a:lstStyle/>
          <a:p>
            <a:pPr>
              <a:defRPr sz="1400" b="1">
                <a:solidFill>
                  <a:srgbClr val="FF9F00"/>
                </a:solidFill>
                <a:latin typeface="Segoe UI"/>
              </a:defRPr>
            </a:pPr>
            <a:r>
              <a:t>Future Improvements</a:t>
            </a:r>
          </a:p>
          <a:p>
            <a:pPr>
              <a:spcBef>
                <a:spcPts val="600"/>
              </a:spcBef>
              <a:defRPr sz="1200">
                <a:solidFill>
                  <a:srgbClr val="BBBBBB"/>
                </a:solidFill>
                <a:latin typeface="Segoe UI"/>
              </a:defRPr>
            </a:pPr>
            <a:r>
              <a:t>- Telegram/Discord bot integration</a:t>
            </a:r>
            <a:br/>
            <a:r>
              <a:t>- Real-time market data feeds</a:t>
            </a:r>
            <a:br/>
            <a:r>
              <a:t>- Portfolio tracking and alerts</a:t>
            </a:r>
            <a:br/>
            <a:r>
              <a:t>- Multi-model support</a:t>
            </a:r>
            <a:br/>
            <a:r>
              <a:t>- Batch document analysis</a:t>
            </a:r>
            <a:br/>
            <a:r>
              <a:t>- Fine-tune on Vietnamese financial data</a:t>
            </a:r>
          </a:p>
        </p:txBody>
      </p:sp>
      <p:sp>
        <p:nvSpPr>
          <p:cNvPr id="8" name="Rectangle 7"/>
          <p:cNvSpPr/>
          <p:nvPr/>
        </p:nvSpPr>
        <p:spPr>
          <a:xfrm>
            <a:off x="731520" y="4114800"/>
            <a:ext cx="10698480" cy="1371600"/>
          </a:xfrm>
          <a:prstGeom prst="rect">
            <a:avLst/>
          </a:prstGeom>
          <a:solidFill>
            <a:srgbClr val="1A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251960"/>
            <a:ext cx="10332720" cy="1097280"/>
          </a:xfrm>
          <a:prstGeom prst="rect">
            <a:avLst/>
          </a:prstGeom>
          <a:noFill/>
        </p:spPr>
        <p:txBody>
          <a:bodyPr wrap="square">
            <a:spAutoFit/>
          </a:bodyPr>
          <a:lstStyle/>
          <a:p>
            <a:pPr>
              <a:defRPr sz="1400" b="1">
                <a:solidFill>
                  <a:srgbClr val="00C7B7"/>
                </a:solidFill>
                <a:latin typeface="Segoe UI"/>
              </a:defRPr>
            </a:pPr>
            <a:r>
              <a:t>Tech Stack</a:t>
            </a:r>
          </a:p>
          <a:p>
            <a:pPr>
              <a:spcBef>
                <a:spcPts val="600"/>
              </a:spcBef>
              <a:defRPr sz="1200">
                <a:solidFill>
                  <a:srgbClr val="BBBBBB"/>
                </a:solidFill>
                <a:latin typeface="Segoe UI"/>
              </a:defRPr>
            </a:pPr>
            <a:r>
              <a:t>Meta Llama 3.1 8B  |  FinGPT LoRA  |  OpenVINO GenAI  |  INT4 Symmetric  |  Intel Core Ultra 7 258V NPU (47 TOPS)  |  FastAPI  |  Gradio  |  OpenClaw  |  Python 3.11</a:t>
            </a:r>
          </a:p>
        </p:txBody>
      </p:sp>
      <p:sp>
        <p:nvSpPr>
          <p:cNvPr id="10" name="TextBox 9"/>
          <p:cNvSpPr txBox="1"/>
          <p:nvPr/>
        </p:nvSpPr>
        <p:spPr>
          <a:xfrm>
            <a:off x="731520" y="5760720"/>
            <a:ext cx="10698480" cy="731520"/>
          </a:xfrm>
          <a:prstGeom prst="rect">
            <a:avLst/>
          </a:prstGeom>
          <a:noFill/>
        </p:spPr>
        <p:txBody>
          <a:bodyPr wrap="square">
            <a:spAutoFit/>
          </a:bodyPr>
          <a:lstStyle/>
          <a:p>
            <a:pPr algn="ctr">
              <a:defRPr sz="2000" b="0">
                <a:solidFill>
                  <a:srgbClr val="888888"/>
                </a:solidFill>
                <a:latin typeface="Segoe UI"/>
              </a:defRPr>
            </a:pPr>
            <a:r>
              <a:t>Thank You - github.com/NguyenPhanKhoa/FinAI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